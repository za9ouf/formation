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83" r:id="rId4"/>
    <p:sldId id="257" r:id="rId5"/>
    <p:sldId id="258" r:id="rId6"/>
    <p:sldId id="259" r:id="rId7"/>
    <p:sldId id="260" r:id="rId8"/>
    <p:sldId id="264" r:id="rId9"/>
    <p:sldId id="265" r:id="rId10"/>
    <p:sldId id="263" r:id="rId11"/>
    <p:sldId id="267" r:id="rId12"/>
    <p:sldId id="268" r:id="rId13"/>
    <p:sldId id="266" r:id="rId14"/>
    <p:sldId id="279" r:id="rId15"/>
    <p:sldId id="271" r:id="rId16"/>
    <p:sldId id="274" r:id="rId17"/>
    <p:sldId id="280" r:id="rId18"/>
    <p:sldId id="282" r:id="rId19"/>
    <p:sldId id="286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679"/>
    <a:srgbClr val="9DC3E6"/>
    <a:srgbClr val="DAE3F3"/>
    <a:srgbClr val="70B4E2"/>
    <a:srgbClr val="4FA4DD"/>
    <a:srgbClr val="9DCBEB"/>
    <a:srgbClr val="B9DAF1"/>
    <a:srgbClr val="F9F9F9"/>
    <a:srgbClr val="FFFFFF"/>
    <a:srgbClr val="9BD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83257-0AB2-48F6-A29D-7E57599467F8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65B4E-DF77-4B03-95EA-8A56EC2F5F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12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F0BA-AF8E-473A-CF4B-CB938C878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B05BD-D921-554B-FE57-A2BA4814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E6538-8D59-B4A4-7EB3-3A7D82D2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09620-E330-8E9D-92C3-DFB74BB0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35E1-238E-2161-E792-645BFEE8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83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47C0-9297-E37F-8EBC-3B78A450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5068-701D-A226-17BD-FD972DF0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14F9-9626-8B7C-9123-D7870B30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B917-E513-9039-FD87-2E82867B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2F88-3B08-FAD4-9554-5488220E2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32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9ABC-3E2F-5BD9-1FC0-19A29C83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82F02-B4B3-06F9-401B-0B2365E4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76177-6CF3-BBF2-672A-4F9C0CB3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C69E2-2A1E-805E-4918-BAB8CE60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B9BF-7E7E-2797-E033-7E50C433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95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4BE2-736B-715B-DA7E-F323CA07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1758-6CA5-DA9F-18F2-2BE5B6AB7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3336A-D958-AF12-4FE3-D5DC314E8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E2BF8-4D36-8C66-9A84-A1CB0917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B5304-6C0F-B643-19C1-1836D81F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B6C0D-7859-055C-0BFE-47B07F04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8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B150-0A34-17FF-79EB-BC788CBF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17BB-6BD4-C5C5-D5FC-4D86F330B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8F064-2E52-B941-1178-4FEE05DDC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219BB-64FD-BBFB-6C9D-6BA3598B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ABC94-D2D8-688F-8AE5-716C2BCE2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6682E-BD78-6692-D6EA-3C341FFE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DDF30-73A8-D013-4B9D-5AA115EF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00731-0F52-787D-08DF-0BD27D20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76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AF1A-4B85-1E24-43D5-7926D4F5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9E5ED-104A-FEEB-5D43-998295A5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13593-5AB3-C7AD-E5A7-5E5144DB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14BD9-9081-5AFF-BF6F-8B7FC75D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34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3EDA6-9FE2-728B-3EBE-736A99466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5C603-3BC5-CD70-E50A-FDBD4032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E050E-F4C2-8A7A-AF56-D322B938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3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83E3-8A54-0677-FA8E-94F88798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C7EB-B596-757D-DECC-3822C65AC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6327B-ECE1-AA88-44D0-67B67565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124D2-9009-6EE1-5ACC-259BCD36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7B2B2-0734-80D7-1536-C7349925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78ECB-EF1A-E63E-3865-98987295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06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F9FD-63C8-BA53-B845-A1AB5991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A9FF3-4A2B-C16D-4688-C6CBA5663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6EA59-F851-9654-0774-78B86D121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274C3-B6DA-3419-D218-E23AF661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A25F5-7B56-F127-F86A-B58D2C76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A011B-3B7D-A752-CEF0-054E5403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99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9E53-FE68-FAC6-0FF9-527F9D31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C1FFC-5F19-C744-1BB7-729296C27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7A1D3-FB02-98E9-2145-A83CD785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E86EE-9417-82D5-E809-12A2BA81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35798-930B-AF90-BA64-2A98D2C6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93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91391-CBA1-FCE2-EECF-64515A8C1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7534B-291C-2600-5572-D9679E9CC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FF8E-108B-0F83-D928-46C3CF05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068F-97CD-D85C-948E-D570CE12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D5A7B-5FA6-7804-07DE-9103D54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474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55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CD6756-655A-30C1-46A7-56B78E5F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67C14-C88A-55BF-AEEB-C3B362B1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C3E7-B6F8-7029-00B9-58CFFCCD6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FDA66-2DB9-4D8B-A2FC-DD65270CB7EC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205C8-AA48-764A-F9B1-61F3C1F1A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A2A18-064E-0311-9A56-51BE89B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49549-EC17-4E32-9F87-403B9712CE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57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61760"/>
          </a:xfrm>
          <a:prstGeom prst="rect">
            <a:avLst/>
          </a:prstGeom>
          <a:solidFill>
            <a:srgbClr val="003866"/>
          </a:solidFill>
          <a:ln/>
        </p:spPr>
      </p:sp>
      <p:sp>
        <p:nvSpPr>
          <p:cNvPr id="3" name="Shape 1"/>
          <p:cNvSpPr/>
          <p:nvPr/>
        </p:nvSpPr>
        <p:spPr>
          <a:xfrm>
            <a:off x="7924800" y="0"/>
            <a:ext cx="2377440" cy="6461760"/>
          </a:xfrm>
          <a:prstGeom prst="rtTriangle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63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MAINTENANCE</a:t>
            </a:r>
            <a:endParaRPr lang="en-US" sz="5067" dirty="0"/>
          </a:p>
        </p:txBody>
      </p:sp>
      <p:sp>
        <p:nvSpPr>
          <p:cNvPr id="7" name="Text 5"/>
          <p:cNvSpPr/>
          <p:nvPr/>
        </p:nvSpPr>
        <p:spPr>
          <a:xfrm>
            <a:off x="548640" y="17068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7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AMÉLIORATION CONTINUE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853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KAIZEN — Direction Maintenance OCP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48640" y="2865120"/>
            <a:ext cx="9144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l'expérience vers la structure. Du gaspillage vers la performance.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548640" y="3352800"/>
            <a:ext cx="5486400" cy="48768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596640"/>
            <a:ext cx="3230880" cy="1524000"/>
          </a:xfrm>
          <a:prstGeom prst="roundRect">
            <a:avLst>
              <a:gd name="adj" fmla="val 6400"/>
            </a:avLst>
          </a:prstGeom>
          <a:solidFill>
            <a:srgbClr val="162B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55136"/>
            <a:ext cx="32308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3467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3467" dirty="0"/>
          </a:p>
        </p:txBody>
      </p:sp>
      <p:sp>
        <p:nvSpPr>
          <p:cNvPr id="13" name="Text 11"/>
          <p:cNvSpPr/>
          <p:nvPr/>
        </p:nvSpPr>
        <p:spPr>
          <a:xfrm>
            <a:off x="548640" y="4328160"/>
            <a:ext cx="323088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récurrentes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548640" y="4608576"/>
            <a:ext cx="323088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 mois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3596640"/>
            <a:ext cx="3230880" cy="1524000"/>
          </a:xfrm>
          <a:prstGeom prst="roundRect">
            <a:avLst>
              <a:gd name="adj" fmla="val 6400"/>
            </a:avLst>
          </a:prstGeom>
          <a:solidFill>
            <a:srgbClr val="162B42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3755136"/>
            <a:ext cx="32308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3467" b="1" dirty="0">
                <a:solidFill>
                  <a:srgbClr val="6EB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+2h/j</a:t>
            </a:r>
            <a:endParaRPr lang="en-US" sz="3467" dirty="0">
              <a:solidFill>
                <a:srgbClr val="6EB92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4328160"/>
            <a:ext cx="323088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4023360" y="4608576"/>
            <a:ext cx="323088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équipement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3596640"/>
            <a:ext cx="3230880" cy="1524000"/>
          </a:xfrm>
          <a:prstGeom prst="roundRect">
            <a:avLst>
              <a:gd name="adj" fmla="val 6400"/>
            </a:avLst>
          </a:prstGeom>
          <a:solidFill>
            <a:srgbClr val="162B42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755136"/>
            <a:ext cx="32308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3467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Dh</a:t>
            </a:r>
            <a:endParaRPr lang="en-US" sz="3467" dirty="0"/>
          </a:p>
        </p:txBody>
      </p:sp>
      <p:sp>
        <p:nvSpPr>
          <p:cNvPr id="21" name="Text 19"/>
          <p:cNvSpPr/>
          <p:nvPr/>
        </p:nvSpPr>
        <p:spPr>
          <a:xfrm>
            <a:off x="7498080" y="4328160"/>
            <a:ext cx="323088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7498080" y="4608576"/>
            <a:ext cx="323088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KAIZEN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425440"/>
            <a:ext cx="9144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 n'est pas une question de budget. C'est une question de regard."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548640" y="5754624"/>
            <a:ext cx="91440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4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équipe cache un potentiel énorme. Chaque jour.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0" y="6461760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61760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2438400" y="6461760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F8C9468-965A-10A4-B012-FC89C9818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997" y="229174"/>
            <a:ext cx="1270326" cy="13252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BF4A34-510D-7975-0DEE-8B66B42FB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99071"/>
            <a:ext cx="8229600" cy="218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846A0-007E-6606-5649-1AC0849ED0E6}"/>
              </a:ext>
            </a:extLst>
          </p:cNvPr>
          <p:cNvSpPr txBox="1"/>
          <p:nvPr/>
        </p:nvSpPr>
        <p:spPr>
          <a:xfrm>
            <a:off x="3047238" y="3244334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accrocher l'attention des responsables, je propose de présenter l'importance et le besoin de ces méthodes/outils son impacte sur la charge de travail et le risque, pour les motiver à continuer le suivis de diapo par diapo, par une accroche d'attention des </a:t>
            </a:r>
            <a:r>
              <a:rPr lang="fr-FR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</a:t>
            </a:r>
            <a:r>
              <a:rPr lang="fr-FR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fr-FR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spich</a:t>
            </a:r>
            <a:r>
              <a:rPr lang="fr-FR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qualitative et impactant (comme j'ai    expliqué au dessus(par exemple aller à cerveau </a:t>
            </a:r>
            <a:r>
              <a:rPr lang="fr-FR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solagé</a:t>
            </a:r>
            <a:r>
              <a:rPr lang="fr-FR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plus impactante que 500h/an/atelier))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90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INTRODUCTION — HISTORIQUE LEAN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ans d'excellence industrielle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Les meilleures entreprises industrielles utilisent ces méthodes depuis 50 ans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1519932"/>
            <a:ext cx="670560" cy="670560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1993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190492"/>
            <a:ext cx="73152" cy="512064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458972"/>
            <a:ext cx="10180320" cy="829056"/>
          </a:xfrm>
          <a:prstGeom prst="roundRect">
            <a:avLst>
              <a:gd name="adj" fmla="val 8824"/>
            </a:avLst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1458972"/>
            <a:ext cx="73152" cy="829056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12" name="Text 10"/>
          <p:cNvSpPr/>
          <p:nvPr/>
        </p:nvSpPr>
        <p:spPr>
          <a:xfrm>
            <a:off x="1706880" y="1519932"/>
            <a:ext cx="670560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00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— TPS — Taiichi Ohno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06880" y="1861308"/>
            <a:ext cx="877824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production Toyota · Base du Lean mondial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548640" y="2678172"/>
            <a:ext cx="670560" cy="670560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7817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348732"/>
            <a:ext cx="73152" cy="512064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63040" y="2617212"/>
            <a:ext cx="10180320" cy="829056"/>
          </a:xfrm>
          <a:prstGeom prst="roundRect">
            <a:avLst>
              <a:gd name="adj" fmla="val 8824"/>
            </a:avLst>
          </a:prstGeom>
          <a:solidFill>
            <a:srgbClr val="CCFBF1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2617212"/>
            <a:ext cx="73152" cy="829056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19" name="Text 17"/>
          <p:cNvSpPr/>
          <p:nvPr/>
        </p:nvSpPr>
        <p:spPr>
          <a:xfrm>
            <a:off x="1706880" y="2678172"/>
            <a:ext cx="670560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0B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Japon — KAIZEN — Masaaki Imai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06880" y="3019548"/>
            <a:ext cx="877824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 · Petites victoires quotidiennes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48640" y="3836412"/>
            <a:ext cx="670560" cy="670560"/>
          </a:xfrm>
          <a:prstGeom prst="ellipse">
            <a:avLst/>
          </a:prstGeom>
          <a:solidFill>
            <a:srgbClr val="298B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3641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" y="4506972"/>
            <a:ext cx="73152" cy="5120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775452"/>
            <a:ext cx="10180320" cy="829056"/>
          </a:xfrm>
          <a:prstGeom prst="roundRect">
            <a:avLst>
              <a:gd name="adj" fmla="val 8824"/>
            </a:avLst>
          </a:prstGeom>
          <a:solidFill>
            <a:srgbClr val="DCFC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463040" y="3775452"/>
            <a:ext cx="73152" cy="82905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/>
          <p:nvPr/>
        </p:nvSpPr>
        <p:spPr>
          <a:xfrm>
            <a:off x="1706880" y="3836412"/>
            <a:ext cx="670560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Lean Thinking — Womack &amp; Jones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06880" y="4177788"/>
            <a:ext cx="877824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principes · Éliminr les gaspillages systématiquement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548640" y="4994652"/>
            <a:ext cx="670560" cy="67056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99465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" y="5665212"/>
            <a:ext cx="73152" cy="5120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1" name="Shape 29"/>
          <p:cNvSpPr/>
          <p:nvPr/>
        </p:nvSpPr>
        <p:spPr>
          <a:xfrm>
            <a:off x="1463040" y="4933692"/>
            <a:ext cx="10180320" cy="829056"/>
          </a:xfrm>
          <a:prstGeom prst="roundRect">
            <a:avLst>
              <a:gd name="adj" fmla="val 8824"/>
            </a:avLst>
          </a:prstGeom>
          <a:solidFill>
            <a:srgbClr val="EDE9FE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4933692"/>
            <a:ext cx="73152" cy="82905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3" name="Text 31"/>
          <p:cNvSpPr/>
          <p:nvPr/>
        </p:nvSpPr>
        <p:spPr>
          <a:xfrm>
            <a:off x="1706880" y="4994652"/>
            <a:ext cx="670560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— Six Sigma — Motorola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06880" y="5336028"/>
            <a:ext cx="877824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· Réduction de la variabilité par les données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548640" y="6152892"/>
            <a:ext cx="670560" cy="6705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15289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6091932"/>
            <a:ext cx="10180320" cy="829056"/>
          </a:xfrm>
          <a:prstGeom prst="roundRect">
            <a:avLst>
              <a:gd name="adj" fmla="val 8824"/>
            </a:avLst>
          </a:prstGeom>
          <a:solidFill>
            <a:srgbClr val="FEF9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463040" y="6091932"/>
            <a:ext cx="73152" cy="8290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1706880" y="6152892"/>
            <a:ext cx="670560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— Lean 4.0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706880" y="6494268"/>
            <a:ext cx="8778240" cy="316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+ Lean + Data · L'avenir de la maintenance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43" name="Text 41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2/18</a:t>
            </a:r>
            <a:endParaRPr lang="en-US" sz="12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2C3D4D1-6342-95CE-C579-46A727EB2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811" y="229175"/>
            <a:ext cx="914511" cy="954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1 : LEAN THINKING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vs KAIKAKU — Deux voies vers l'amélioration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改善 · Amélioration continue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1402080"/>
            <a:ext cx="6339840" cy="5608320"/>
          </a:xfrm>
          <a:prstGeom prst="roundRect">
            <a:avLst>
              <a:gd name="adj" fmla="val 1739"/>
            </a:avLst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02080"/>
            <a:ext cx="6339840" cy="463296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402080"/>
            <a:ext cx="60960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— NOTRE APPROCHE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74976"/>
            <a:ext cx="597408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 étapes · Quotidien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268224" cy="268224"/>
          </a:xfrm>
          <a:prstGeom prst="ellipse">
            <a:avLst/>
          </a:prstGeom>
          <a:solidFill>
            <a:srgbClr val="298B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268224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38272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l'équipe participe — pas seulement les experts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268224" cy="26822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94176"/>
            <a:ext cx="268224" cy="268224"/>
          </a:xfrm>
          <a:prstGeom prst="rect">
            <a:avLst/>
          </a:prstGeom>
          <a:solidFill>
            <a:srgbClr val="298B3A"/>
          </a:solidFill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69792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investissement — juste votre regard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731520" y="4425696"/>
            <a:ext cx="268224" cy="26822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25696"/>
            <a:ext cx="268224" cy="268224"/>
          </a:xfrm>
          <a:prstGeom prst="rect">
            <a:avLst/>
          </a:prstGeom>
          <a:solidFill>
            <a:srgbClr val="298B3A"/>
          </a:solidFill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401312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cumulatif : 1% × 365 = 37× mieux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731520" y="5157216"/>
            <a:ext cx="268224" cy="26822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57216"/>
            <a:ext cx="268224" cy="268224"/>
          </a:xfrm>
          <a:prstGeom prst="rect">
            <a:avLst/>
          </a:prstGeom>
          <a:solidFill>
            <a:srgbClr val="298B3A"/>
          </a:solidFill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132832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visibles dès la première semaine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644640" y="3718560"/>
            <a:ext cx="755904" cy="755904"/>
          </a:xfrm>
          <a:prstGeom prst="ellipse">
            <a:avLst/>
          </a:prstGeom>
          <a:solidFill>
            <a:srgbClr val="004B87"/>
          </a:solidFill>
          <a:ln/>
        </p:spPr>
      </p:sp>
      <p:sp>
        <p:nvSpPr>
          <p:cNvPr id="26" name="Text 24"/>
          <p:cNvSpPr/>
          <p:nvPr/>
        </p:nvSpPr>
        <p:spPr>
          <a:xfrm>
            <a:off x="6644640" y="3718560"/>
            <a:ext cx="755904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7559040" y="1402080"/>
            <a:ext cx="4084320" cy="5608320"/>
          </a:xfrm>
          <a:prstGeom prst="roundRect">
            <a:avLst>
              <a:gd name="adj" fmla="val 2388"/>
            </a:avLst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59040" y="1402080"/>
            <a:ext cx="4084320" cy="4632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705344" y="1402080"/>
            <a:ext cx="3840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KAIKAKU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05344" y="2011680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changement · Ponctuel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7741920" y="2560320"/>
            <a:ext cx="37185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Experts / Consultants requis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7741920" y="3230880"/>
            <a:ext cx="37185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Investissement lourd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7741920" y="3901440"/>
            <a:ext cx="37185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Effet immédiat mais risqué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7741920" y="4572000"/>
            <a:ext cx="37185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Nouvel équipement = 1M Dh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548640" y="7193280"/>
            <a:ext cx="1109472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7193280"/>
            <a:ext cx="73152" cy="548640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37" name="Text 35"/>
          <p:cNvSpPr/>
          <p:nvPr/>
        </p:nvSpPr>
        <p:spPr>
          <a:xfrm>
            <a:off x="670560" y="7278624"/>
            <a:ext cx="10875264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 : Petites victoires quotidiennes = Grands résultats · Commencez dès cette semaine sans budget.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3/18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1 : VALEUR AJOUTÉE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client paie — et ce qu'il ne paie pas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Cas concret : Intervention maintenance (8h)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1365504"/>
            <a:ext cx="1109472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7" b="1" kern="0" spc="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RÉELLE D'UNE INTERVENTION (8H)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364992" cy="463296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336499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· 30%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3913632" y="1645920"/>
            <a:ext cx="2804160" cy="4632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913632" y="1645920"/>
            <a:ext cx="28041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 Nécessaire · 25%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7792" y="1645920"/>
            <a:ext cx="4986528" cy="463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717792" y="1645920"/>
            <a:ext cx="498652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Gaspillage supprimable · 45%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40864"/>
            <a:ext cx="3596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340864"/>
            <a:ext cx="3596640" cy="341376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340864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PAIE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646176" y="276758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— VALEUR AJOUTÉE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46176" y="3169920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l'équipement vers l'objectif final.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646176" y="3681984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Réparation · Diagnostic · Test · Optimisation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05984"/>
            <a:ext cx="3596640" cy="70713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5242560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ce temps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4303776" y="2340864"/>
            <a:ext cx="3596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03776" y="2340864"/>
            <a:ext cx="3596640" cy="3413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376928" y="2340864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MAIS NON PAYÉ</a:t>
            </a:r>
            <a:endParaRPr lang="en-US" sz="1067" dirty="0"/>
          </a:p>
        </p:txBody>
      </p:sp>
      <p:sp>
        <p:nvSpPr>
          <p:cNvPr id="25" name="Text 23"/>
          <p:cNvSpPr/>
          <p:nvPr/>
        </p:nvSpPr>
        <p:spPr>
          <a:xfrm>
            <a:off x="4401312" y="276758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 NÉCESSAIRE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4401312" y="3169920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 inévitables.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4401312" y="3681984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Consignation · EPI · Permis de travail · Admin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3776" y="5205984"/>
            <a:ext cx="3596640" cy="70713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4376928" y="5242560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sans supprimer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8058912" y="2340864"/>
            <a:ext cx="3596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8912" y="2340864"/>
            <a:ext cx="3596640" cy="3413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132064" y="2340864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ÉLIMINER EN PRIORITÉ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8156448" y="276758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GASPILLAGE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8156448" y="3169920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 gaspillage — 0 valeur ajoutée.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8156448" y="3681984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Chercher pièces · Attendre · Papiers inutiles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58912" y="5205984"/>
            <a:ext cx="3596640" cy="70713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7" name="Text 35"/>
          <p:cNvSpPr/>
          <p:nvPr/>
        </p:nvSpPr>
        <p:spPr>
          <a:xfrm>
            <a:off x="8132064" y="5242560"/>
            <a:ext cx="347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 dès lundi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548640" y="6193536"/>
            <a:ext cx="11094720" cy="58521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6193536"/>
            <a:ext cx="73152" cy="585216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0" name="Text 38"/>
          <p:cNvSpPr/>
          <p:nvPr/>
        </p:nvSpPr>
        <p:spPr>
          <a:xfrm>
            <a:off x="670560" y="6278880"/>
            <a:ext cx="10875264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GASPILLAGE DE 45% À 20% = +2h/personne/jour = 25% DE CAPACITÉ SUPPLÉMENTAIRE — SANS RECRUTER.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43" name="Text 41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4/18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1 : LES 7 MUDA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= Gaspillage — Les 7 à éliminer en maintenance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Taiichi Ohno · Toyota · Identifier, nommer, agir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158496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176" y="165811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58240" y="165811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SURPRODUCTION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46176" y="221894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non lus · Stocks pièces excessifs · Double saisie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2800" y="158496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0336" y="165811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62400" y="165811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3450336" y="221894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attend pièce · Attente autorisation · Attente équipement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6960" y="158496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165811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65811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6254496" y="221894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stock loin · Allers-retours magasin · Déplacements inutiles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158496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58656" y="165811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70720" y="165811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EXCESSIF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9058656" y="221894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trop détaillés · 3 validations · Réunions sans fin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35280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EF9C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6176" y="342595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58240" y="342595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46176" y="398678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qui dorment · Obsolescence · Sur-stockage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52800" y="335280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3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50336" y="342595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962400" y="342595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3450336" y="398678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outillage · Mauvaise ergonomie · Allers-retours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6960" y="335280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54496" y="342595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766560" y="342595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6254496" y="398678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Reprise-retouche · Mauvais diagnostic · Re-réparation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61120" y="335280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61120" y="3352800"/>
            <a:ext cx="2621280" cy="1584960"/>
          </a:xfrm>
          <a:prstGeom prst="roundRect">
            <a:avLst>
              <a:gd name="adj" fmla="val 5385"/>
            </a:avLst>
          </a:prstGeom>
          <a:solidFill>
            <a:srgbClr val="F0FDF4"/>
          </a:solidFill>
          <a:ln/>
        </p:spPr>
      </p:sp>
      <p:sp>
        <p:nvSpPr>
          <p:cNvPr id="37" name="Text 35"/>
          <p:cNvSpPr/>
          <p:nvPr/>
        </p:nvSpPr>
        <p:spPr>
          <a:xfrm>
            <a:off x="9058656" y="342595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570720" y="342595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8ème MUDA</a:t>
            </a:r>
            <a:endParaRPr lang="en-US" sz="1333" dirty="0"/>
          </a:p>
          <a:p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IGNORÉ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9058656" y="3986784"/>
            <a:ext cx="2414016" cy="829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écouter ceux qui font le travail = gaspiller leur expertise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7376160"/>
            <a:ext cx="11094720" cy="4876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7376160"/>
            <a:ext cx="73152" cy="487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2" name="Text 40"/>
          <p:cNvSpPr/>
          <p:nvPr/>
        </p:nvSpPr>
        <p:spPr>
          <a:xfrm>
            <a:off x="670560" y="7461504"/>
            <a:ext cx="10875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: Identifier 3 MUDA/jour/technicien = 15/semaine = 750/an éliminés → 3-5 semaines de travail récupérées</a:t>
            </a:r>
            <a:endParaRPr lang="en-US" sz="1333" dirty="0"/>
          </a:p>
        </p:txBody>
      </p:sp>
      <p:sp>
        <p:nvSpPr>
          <p:cNvPr id="43" name="Shape 41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5/18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2 · MÉTHODES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— La roue de l'amélioration continue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W. Edwards Deming 1950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645920"/>
            <a:ext cx="2560320" cy="280416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1120" y="1767840"/>
            <a:ext cx="853440" cy="853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341120" y="176784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P</a:t>
            </a:r>
            <a:endParaRPr lang="en-US" sz="2933" dirty="0"/>
          </a:p>
        </p:txBody>
      </p:sp>
      <p:sp>
        <p:nvSpPr>
          <p:cNvPr id="9" name="Text 7"/>
          <p:cNvSpPr/>
          <p:nvPr/>
        </p:nvSpPr>
        <p:spPr>
          <a:xfrm>
            <a:off x="487680" y="2682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D4ED8"/>
                </a:solidFill>
              </a:rPr>
              <a:t>Plan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09600" y="3108960"/>
            <a:ext cx="2316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D4ED8"/>
                </a:solidFill>
              </a:rPr>
              <a:t>Définir l'objectif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1D4ED8"/>
                </a:solidFill>
              </a:rPr>
              <a:t>Analyser causes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316224" y="1645920"/>
            <a:ext cx="2560320" cy="280416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9664" y="1767840"/>
            <a:ext cx="853440" cy="853440"/>
          </a:xfrm>
          <a:prstGeom prst="ellipse">
            <a:avLst/>
          </a:prstGeom>
          <a:solidFill>
            <a:srgbClr val="298B3A"/>
          </a:solidFill>
          <a:ln/>
        </p:spPr>
      </p:sp>
      <p:sp>
        <p:nvSpPr>
          <p:cNvPr id="13" name="Text 11"/>
          <p:cNvSpPr/>
          <p:nvPr/>
        </p:nvSpPr>
        <p:spPr>
          <a:xfrm>
            <a:off x="4169664" y="176784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D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3316224" y="2682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66534"/>
                </a:solidFill>
              </a:rPr>
              <a:t>Do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3438144" y="3108960"/>
            <a:ext cx="2316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66534"/>
                </a:solidFill>
              </a:rPr>
              <a:t>Tester solution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166534"/>
                </a:solidFill>
              </a:rPr>
              <a:t>Périmètre limité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144768" y="1645920"/>
            <a:ext cx="2560320" cy="280416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8208" y="1767840"/>
            <a:ext cx="853440" cy="85344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6998208" y="176784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C</a:t>
            </a:r>
            <a:endParaRPr lang="en-US" sz="2933" dirty="0"/>
          </a:p>
        </p:txBody>
      </p:sp>
      <p:sp>
        <p:nvSpPr>
          <p:cNvPr id="19" name="Text 17"/>
          <p:cNvSpPr/>
          <p:nvPr/>
        </p:nvSpPr>
        <p:spPr>
          <a:xfrm>
            <a:off x="6144768" y="2682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92400E"/>
                </a:solidFill>
              </a:rPr>
              <a:t>Check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266688" y="3108960"/>
            <a:ext cx="2316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2400E"/>
                </a:solidFill>
              </a:rPr>
              <a:t>Mesurer résultats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2400E"/>
                </a:solidFill>
              </a:rPr>
              <a:t>Analyser écarts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973312" y="1645920"/>
            <a:ext cx="2560320" cy="2804160"/>
          </a:xfrm>
          <a:prstGeom prst="roundRect">
            <a:avLst>
              <a:gd name="adj" fmla="val 3810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6752" y="1767840"/>
            <a:ext cx="853440" cy="85344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9826752" y="176784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</a:rPr>
              <a:t>A</a:t>
            </a:r>
            <a:endParaRPr lang="en-US" sz="2933" dirty="0"/>
          </a:p>
        </p:txBody>
      </p:sp>
      <p:sp>
        <p:nvSpPr>
          <p:cNvPr id="24" name="Text 22"/>
          <p:cNvSpPr/>
          <p:nvPr/>
        </p:nvSpPr>
        <p:spPr>
          <a:xfrm>
            <a:off x="8973312" y="2682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991B1B"/>
                </a:solidFill>
              </a:rPr>
              <a:t>Act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9095232" y="3108960"/>
            <a:ext cx="2316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91B1B"/>
                </a:solidFill>
              </a:rPr>
              <a:t>Standardiser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91B1B"/>
                </a:solidFill>
              </a:rPr>
              <a:t>Capitaliser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87680" y="4693920"/>
            <a:ext cx="1121664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4767072"/>
            <a:ext cx="1103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400E"/>
                </a:solidFill>
              </a:rPr>
              <a:t>🏭 EXEMPLE OCP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" y="5084064"/>
            <a:ext cx="1103376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P : Arrêt 4h/semaine → Objectif : 1h · Causes : capteur HS + délai pièces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</a:rPr>
              <a:t>D : Stock capteur de secours + Formation équipe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</a:rPr>
              <a:t>C : Arrêt tombé à 0.8h/semaine (-80%)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</a:rPr>
              <a:t>A : Standard appliqué à toutes les lignes LK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8/20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2 · MÉTHODES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— Pour problèmes complexes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Six Sigma · Motorola 1986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720" y="1645920"/>
            <a:ext cx="2097024" cy="2438400"/>
          </a:xfrm>
          <a:prstGeom prst="roundRect">
            <a:avLst>
              <a:gd name="adj" fmla="val 407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1036320" y="1731264"/>
            <a:ext cx="853440" cy="853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36320" y="1731264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D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426720" y="2621280"/>
            <a:ext cx="20970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D4ED8"/>
                </a:solidFill>
              </a:rPr>
              <a:t>Définir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524256" y="2987040"/>
            <a:ext cx="191414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D4ED8"/>
                </a:solidFill>
              </a:rPr>
              <a:t>Charte projet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D4ED8"/>
                </a:solidFill>
              </a:rPr>
              <a:t>QQOQCCP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18816" y="1645920"/>
            <a:ext cx="2097024" cy="2438400"/>
          </a:xfrm>
          <a:prstGeom prst="roundRect">
            <a:avLst>
              <a:gd name="adj" fmla="val 4070"/>
            </a:avLst>
          </a:prstGeom>
          <a:solidFill>
            <a:srgbClr val="DCF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8416" y="1731264"/>
            <a:ext cx="853440" cy="853440"/>
          </a:xfrm>
          <a:prstGeom prst="ellipse">
            <a:avLst/>
          </a:prstGeom>
          <a:solidFill>
            <a:srgbClr val="298B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731264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M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2718816" y="2621280"/>
            <a:ext cx="20970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66534"/>
                </a:solidFill>
              </a:rPr>
              <a:t>Mesurer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2816352" y="2987040"/>
            <a:ext cx="191414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6534"/>
                </a:solidFill>
              </a:rPr>
              <a:t>Collecter données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6534"/>
                </a:solidFill>
              </a:rPr>
              <a:t>Baseline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10912" y="1645920"/>
            <a:ext cx="2097024" cy="2438400"/>
          </a:xfrm>
          <a:prstGeom prst="roundRect">
            <a:avLst>
              <a:gd name="adj" fmla="val 407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0512" y="1731264"/>
            <a:ext cx="853440" cy="85344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5620512" y="1731264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A</a:t>
            </a:r>
            <a:endParaRPr lang="en-US" sz="2667" dirty="0"/>
          </a:p>
        </p:txBody>
      </p:sp>
      <p:sp>
        <p:nvSpPr>
          <p:cNvPr id="19" name="Text 17"/>
          <p:cNvSpPr/>
          <p:nvPr/>
        </p:nvSpPr>
        <p:spPr>
          <a:xfrm>
            <a:off x="5010912" y="2621280"/>
            <a:ext cx="20970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92400E"/>
                </a:solidFill>
              </a:rPr>
              <a:t>Analyser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5108448" y="2987040"/>
            <a:ext cx="191414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2400E"/>
                </a:solidFill>
              </a:rPr>
              <a:t>5 Pourquoi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2400E"/>
                </a:solidFill>
              </a:rPr>
              <a:t>Ishikawa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03008" y="1645920"/>
            <a:ext cx="2097024" cy="2438400"/>
          </a:xfrm>
          <a:prstGeom prst="roundRect">
            <a:avLst>
              <a:gd name="adj" fmla="val 4070"/>
            </a:avLst>
          </a:prstGeom>
          <a:solidFill>
            <a:srgbClr val="EDE9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912608" y="1731264"/>
            <a:ext cx="853440" cy="8534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3" name="Text 21"/>
          <p:cNvSpPr/>
          <p:nvPr/>
        </p:nvSpPr>
        <p:spPr>
          <a:xfrm>
            <a:off x="7912608" y="1731264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I</a:t>
            </a:r>
            <a:endParaRPr lang="en-US" sz="2667" dirty="0"/>
          </a:p>
        </p:txBody>
      </p:sp>
      <p:sp>
        <p:nvSpPr>
          <p:cNvPr id="24" name="Text 22"/>
          <p:cNvSpPr/>
          <p:nvPr/>
        </p:nvSpPr>
        <p:spPr>
          <a:xfrm>
            <a:off x="7303008" y="2621280"/>
            <a:ext cx="20970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5B21B6"/>
                </a:solidFill>
              </a:rPr>
              <a:t>Améliorer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7400544" y="2987040"/>
            <a:ext cx="191414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5B21B6"/>
                </a:solidFill>
              </a:rPr>
              <a:t>Solutions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5B21B6"/>
                </a:solidFill>
              </a:rPr>
              <a:t>Pilotes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95104" y="1645920"/>
            <a:ext cx="2097024" cy="2438400"/>
          </a:xfrm>
          <a:prstGeom prst="roundRect">
            <a:avLst>
              <a:gd name="adj" fmla="val 4070"/>
            </a:avLst>
          </a:prstGeom>
          <a:solidFill>
            <a:srgbClr val="FE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04704" y="1731264"/>
            <a:ext cx="853440" cy="85344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10204704" y="1731264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C</a:t>
            </a:r>
            <a:endParaRPr lang="en-US" sz="2667" dirty="0"/>
          </a:p>
        </p:txBody>
      </p:sp>
      <p:sp>
        <p:nvSpPr>
          <p:cNvPr id="29" name="Text 27"/>
          <p:cNvSpPr/>
          <p:nvPr/>
        </p:nvSpPr>
        <p:spPr>
          <a:xfrm>
            <a:off x="9595104" y="2621280"/>
            <a:ext cx="20970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991B1B"/>
                </a:solidFill>
              </a:rPr>
              <a:t>Contrôler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9692640" y="2987040"/>
            <a:ext cx="191414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91B1B"/>
                </a:solidFill>
              </a:rPr>
              <a:t>Mgmt visuel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91B1B"/>
                </a:solidFill>
              </a:rPr>
              <a:t>Standards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7680" y="4267200"/>
            <a:ext cx="1121664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" y="4340352"/>
            <a:ext cx="1103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400E"/>
                </a:solidFill>
              </a:rPr>
              <a:t>🏭 EXEMPLE OCP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" y="4657344"/>
            <a:ext cx="110337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Durée : 3 mois · Équipe : 5 personnes · Gain : 2 MDh/an · Méthode : DMAIC complet avec données analyse SPC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9/20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2E03231F-3F1F-0E97-4ED3-2D2BB130764E}"/>
              </a:ext>
            </a:extLst>
          </p:cNvPr>
          <p:cNvSpPr/>
          <p:nvPr/>
        </p:nvSpPr>
        <p:spPr>
          <a:xfrm>
            <a:off x="609341" y="5693793"/>
            <a:ext cx="11094720" cy="4267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E3FD6A9D-DC97-D680-A7FE-EAAD6C6C21E9}"/>
              </a:ext>
            </a:extLst>
          </p:cNvPr>
          <p:cNvSpPr/>
          <p:nvPr/>
        </p:nvSpPr>
        <p:spPr>
          <a:xfrm>
            <a:off x="609341" y="5693793"/>
            <a:ext cx="73152" cy="426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2673F5E4-C276-0084-40FC-B4D1AFA1781F}"/>
              </a:ext>
            </a:extLst>
          </p:cNvPr>
          <p:cNvSpPr/>
          <p:nvPr/>
        </p:nvSpPr>
        <p:spPr>
          <a:xfrm>
            <a:off x="731261" y="5779137"/>
            <a:ext cx="10875264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par PDCA → passez à DMAIC si le problème résiste après 2 cycles PDCA.</a:t>
            </a:r>
            <a:endParaRPr lang="en-US" sz="13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2 : DÉMARCHES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— Résolution d'incidents graves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09600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Motor Company 1987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548640" y="1402080"/>
            <a:ext cx="2621280" cy="1487424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02080"/>
            <a:ext cx="2621280" cy="316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Shape 7"/>
          <p:cNvSpPr/>
          <p:nvPr/>
        </p:nvSpPr>
        <p:spPr>
          <a:xfrm>
            <a:off x="646176" y="1816608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46176" y="1816608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426464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6176" y="219456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Multidisciplinaire · Méca + Élec + Prod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2800" y="1402080"/>
            <a:ext cx="2621280" cy="1487424"/>
          </a:xfrm>
          <a:prstGeom prst="rect">
            <a:avLst/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2800" y="1402080"/>
            <a:ext cx="2621280" cy="316992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450336" y="1816608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50336" y="1816608"/>
            <a:ext cx="633984" cy="304800"/>
          </a:xfrm>
          <a:prstGeom prst="rect">
            <a:avLst/>
          </a:prstGeom>
          <a:solidFill>
            <a:srgbClr val="349245"/>
          </a:solidFill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5952" y="1426464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0336" y="219456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précise · QQOQCCP complet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6960" y="1402080"/>
            <a:ext cx="2621280" cy="1487424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56960" y="1402080"/>
            <a:ext cx="2621280" cy="31699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1816608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92400E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816608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0112" y="1426464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immédiate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19456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 hémorragie · Mesure conservatoire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1402080"/>
            <a:ext cx="2621280" cy="1487424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0" y="1402080"/>
            <a:ext cx="2621280" cy="316992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8656" y="1816608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9058656" y="1816608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34272" y="1426464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racines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58656" y="2194560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Pourquoi + Ishikawa · Preuves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084576"/>
            <a:ext cx="2621280" cy="1487424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084576"/>
            <a:ext cx="2621280" cy="316992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3" name="Shape 31"/>
          <p:cNvSpPr/>
          <p:nvPr/>
        </p:nvSpPr>
        <p:spPr>
          <a:xfrm>
            <a:off x="646176" y="3499104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991B1B"/>
          </a:solidFill>
          <a:ln/>
        </p:spPr>
      </p:sp>
      <p:sp>
        <p:nvSpPr>
          <p:cNvPr id="34" name="Text 32"/>
          <p:cNvSpPr/>
          <p:nvPr/>
        </p:nvSpPr>
        <p:spPr>
          <a:xfrm>
            <a:off x="646176" y="3499104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" y="3108960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6176" y="3877056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 Faisabilité · Permanent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52800" y="3084576"/>
            <a:ext cx="2621280" cy="1487424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52800" y="3084576"/>
            <a:ext cx="2621280" cy="31699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9" name="Shape 37"/>
          <p:cNvSpPr/>
          <p:nvPr/>
        </p:nvSpPr>
        <p:spPr>
          <a:xfrm>
            <a:off x="3450336" y="3499104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92400E"/>
          </a:solidFill>
          <a:ln/>
        </p:spPr>
      </p:sp>
      <p:sp>
        <p:nvSpPr>
          <p:cNvPr id="40" name="Text 38"/>
          <p:cNvSpPr/>
          <p:nvPr/>
        </p:nvSpPr>
        <p:spPr>
          <a:xfrm>
            <a:off x="3450336" y="3499104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25952" y="3108960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50336" y="3877056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Responsables · Délais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56960" y="3084576"/>
            <a:ext cx="2621280" cy="1487424"/>
          </a:xfrm>
          <a:prstGeom prst="rect">
            <a:avLst/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56960" y="3084576"/>
            <a:ext cx="2621280" cy="316992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45" name="Shape 43"/>
          <p:cNvSpPr/>
          <p:nvPr/>
        </p:nvSpPr>
        <p:spPr>
          <a:xfrm>
            <a:off x="6254496" y="3499104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349245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3499104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30112" y="3108960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Préventives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54496" y="3877056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 récurrence · Autres équipements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961120" y="3084576"/>
            <a:ext cx="2621280" cy="1487424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961120" y="3084576"/>
            <a:ext cx="2621280" cy="316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8656" y="3499104"/>
            <a:ext cx="633984" cy="3048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9058656" y="3499104"/>
            <a:ext cx="63398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034272" y="3108960"/>
            <a:ext cx="249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058656" y="3877056"/>
            <a:ext cx="2438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leçons · Base connaissances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0" y="6443980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443980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61" name="Text 59"/>
          <p:cNvSpPr/>
          <p:nvPr/>
        </p:nvSpPr>
        <p:spPr>
          <a:xfrm>
            <a:off x="2438400" y="6443980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728960" y="6443980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8/18</a:t>
            </a:r>
            <a:endParaRPr lang="en-US" sz="1200" dirty="0"/>
          </a:p>
        </p:txBody>
      </p:sp>
      <p:sp>
        <p:nvSpPr>
          <p:cNvPr id="126" name="Shape 53">
            <a:extLst>
              <a:ext uri="{FF2B5EF4-FFF2-40B4-BE49-F238E27FC236}">
                <a16:creationId xmlns:a16="http://schemas.microsoft.com/office/drawing/2014/main" id="{271853BC-3C04-5D70-6B3A-36E4B9492BDF}"/>
              </a:ext>
            </a:extLst>
          </p:cNvPr>
          <p:cNvSpPr/>
          <p:nvPr/>
        </p:nvSpPr>
        <p:spPr>
          <a:xfrm>
            <a:off x="548640" y="4974336"/>
            <a:ext cx="11094720" cy="123799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27" name="Shape 54">
            <a:extLst>
              <a:ext uri="{FF2B5EF4-FFF2-40B4-BE49-F238E27FC236}">
                <a16:creationId xmlns:a16="http://schemas.microsoft.com/office/drawing/2014/main" id="{B5764682-82C0-3F89-8628-AD9E8D1FF7D0}"/>
              </a:ext>
            </a:extLst>
          </p:cNvPr>
          <p:cNvSpPr/>
          <p:nvPr/>
        </p:nvSpPr>
        <p:spPr>
          <a:xfrm>
            <a:off x="548640" y="4974336"/>
            <a:ext cx="73152" cy="1237996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28" name="Text 55">
            <a:extLst>
              <a:ext uri="{FF2B5EF4-FFF2-40B4-BE49-F238E27FC236}">
                <a16:creationId xmlns:a16="http://schemas.microsoft.com/office/drawing/2014/main" id="{CA52AE1B-2415-1B8F-F79C-3F8B0B296128}"/>
              </a:ext>
            </a:extLst>
          </p:cNvPr>
          <p:cNvSpPr/>
          <p:nvPr/>
        </p:nvSpPr>
        <p:spPr>
          <a:xfrm>
            <a:off x="670560" y="5035296"/>
            <a:ext cx="1087526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EXEMPLE OCP</a:t>
            </a:r>
            <a:endParaRPr lang="en-US" sz="1200" dirty="0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69B575C4-78A4-69F4-5348-B5DB090C5916}"/>
              </a:ext>
            </a:extLst>
          </p:cNvPr>
          <p:cNvSpPr/>
          <p:nvPr/>
        </p:nvSpPr>
        <p:spPr>
          <a:xfrm>
            <a:off x="670560" y="5279136"/>
            <a:ext cx="10875264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Courroie transporteur rompue 3× en 1 mois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Équipe Méca+Élec | D2: Courroie rompue ligne 4 | D3: Installation protection temporaire | D4: Tension + qualité courroie | D5-D7: Nouveau type courroie + plan MP | D8: Standard tous transporteurs OCP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3 · OUTILS TERRAIN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QQOQCP — Comprendre avant d'agir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Méthode journalistique · 30 minutes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645920"/>
            <a:ext cx="2706624" cy="1341119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" y="1743456"/>
            <a:ext cx="487680" cy="4876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74345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Q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1158240" y="1767840"/>
            <a:ext cx="191414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4ED8"/>
                </a:solidFill>
              </a:rPr>
              <a:t>Qui ?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597408" y="2389292"/>
            <a:ext cx="248716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Équipe A · Shift matin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7184" y="1645920"/>
            <a:ext cx="2706624" cy="134112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743456"/>
            <a:ext cx="487680" cy="4876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74345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Q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4047744" y="1767840"/>
            <a:ext cx="191414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4ED8"/>
                </a:solidFill>
              </a:rPr>
              <a:t>Quoi ?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3488267" y="2380827"/>
            <a:ext cx="248716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Vibration anormale broyeur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6688" y="1645920"/>
            <a:ext cx="2706624" cy="134112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1743456"/>
            <a:ext cx="487680" cy="4876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74345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O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6937248" y="1767840"/>
            <a:ext cx="191414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4ED8"/>
                </a:solidFill>
              </a:rPr>
              <a:t>Où ?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388608" y="2380827"/>
            <a:ext cx="248716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Broyeur BK3 · Palier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56192" y="1645920"/>
            <a:ext cx="2706624" cy="134112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3728" y="1743456"/>
            <a:ext cx="487680" cy="4876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9253728" y="174345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Q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9826752" y="1767840"/>
            <a:ext cx="191414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4ED8"/>
                </a:solidFill>
              </a:rPr>
              <a:t>Quand ?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9265920" y="2389292"/>
            <a:ext cx="248716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Démarrage production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40608" y="3249168"/>
            <a:ext cx="2755392" cy="1316734"/>
          </a:xfrm>
          <a:prstGeom prst="roundRect">
            <a:avLst>
              <a:gd name="adj" fmla="val 5833"/>
            </a:avLst>
          </a:pr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93347" y="3333331"/>
            <a:ext cx="487680" cy="4876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347" y="3333331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C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4011168" y="3371088"/>
            <a:ext cx="28041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2C55E"/>
                </a:solidFill>
              </a:rPr>
              <a:t>Comment ?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3450336" y="3923115"/>
            <a:ext cx="3377184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Vibration 12mm/s · Alarme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6688" y="3249168"/>
            <a:ext cx="2706624" cy="1316736"/>
          </a:xfrm>
          <a:prstGeom prst="roundRect">
            <a:avLst>
              <a:gd name="adj" fmla="val 58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7" name="Shape 35"/>
          <p:cNvSpPr/>
          <p:nvPr/>
        </p:nvSpPr>
        <p:spPr>
          <a:xfrm>
            <a:off x="6440392" y="3324015"/>
            <a:ext cx="478670" cy="47210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440392" y="3336040"/>
            <a:ext cx="4786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P</a:t>
            </a:r>
            <a:endParaRPr lang="en-US" sz="1867" dirty="0"/>
          </a:p>
        </p:txBody>
      </p:sp>
      <p:sp>
        <p:nvSpPr>
          <p:cNvPr id="39" name="Text 37"/>
          <p:cNvSpPr/>
          <p:nvPr/>
        </p:nvSpPr>
        <p:spPr>
          <a:xfrm>
            <a:off x="6986016" y="3374645"/>
            <a:ext cx="28041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D97706"/>
                </a:solidFill>
              </a:rPr>
              <a:t>Pourquoi ?</a:t>
            </a:r>
            <a:endParaRPr lang="en-US" sz="1467" dirty="0">
              <a:solidFill>
                <a:srgbClr val="D97706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40392" y="3908893"/>
            <a:ext cx="3603051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Perte production 500t/an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44" name="Text 42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11/20</a:t>
            </a:r>
            <a:endParaRPr lang="en-US" sz="1467" dirty="0"/>
          </a:p>
        </p:txBody>
      </p:sp>
      <p:sp>
        <p:nvSpPr>
          <p:cNvPr id="46" name="Shape 44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C7A6740A-A513-B79C-CF9B-AE23504A3AC7}"/>
              </a:ext>
            </a:extLst>
          </p:cNvPr>
          <p:cNvSpPr/>
          <p:nvPr/>
        </p:nvSpPr>
        <p:spPr>
          <a:xfrm>
            <a:off x="411480" y="5138928"/>
            <a:ext cx="832104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94B262E6-76F1-6892-232F-9D54340950D8}"/>
              </a:ext>
            </a:extLst>
          </p:cNvPr>
          <p:cNvSpPr/>
          <p:nvPr/>
        </p:nvSpPr>
        <p:spPr>
          <a:xfrm>
            <a:off x="411480" y="5138928"/>
            <a:ext cx="54864" cy="384048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53145F5C-CCB3-8286-2A18-9C0D2C0A02F9}"/>
              </a:ext>
            </a:extLst>
          </p:cNvPr>
          <p:cNvSpPr/>
          <p:nvPr/>
        </p:nvSpPr>
        <p:spPr>
          <a:xfrm>
            <a:off x="502920" y="5202936"/>
            <a:ext cx="8156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Problème bien défini = Solution adaptée = Plus de récurrence · Fait en 30 min, au tableau blanc, en équipe.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3 · OUTILS TERRAIN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Pourquoi — Trouver la cause racine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Taiichi Ohno · Toyota 1950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487424"/>
            <a:ext cx="11216640" cy="6096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60576"/>
            <a:ext cx="1103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400E"/>
                </a:solidFill>
              </a:rPr>
              <a:t>🏭 EXEMPLE OCP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77568"/>
            <a:ext cx="11033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Moteur convoyeur L4 en panne → Arrêt ligne 4h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87680" y="2255520"/>
            <a:ext cx="390144" cy="39014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80" y="225552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2400E"/>
                </a:solidFill>
              </a:rPr>
              <a:t>1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21792" y="2645664"/>
            <a:ext cx="1219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CA5A5"/>
                </a:solidFill>
              </a:rPr>
              <a:t>↓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1036320" y="2255520"/>
            <a:ext cx="10668000" cy="51206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Text 11"/>
          <p:cNvSpPr/>
          <p:nvPr/>
        </p:nvSpPr>
        <p:spPr>
          <a:xfrm>
            <a:off x="1158240" y="2292096"/>
            <a:ext cx="304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2400E"/>
                </a:solidFill>
              </a:rPr>
              <a:t>Pourquoi panne ?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267200" y="2292096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→  Surchauffe moteur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487680" y="2889504"/>
            <a:ext cx="390144" cy="39014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80" y="2889504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2400E"/>
                </a:solidFill>
              </a:rPr>
              <a:t>2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621792" y="3279648"/>
            <a:ext cx="1219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CA5A5"/>
                </a:solidFill>
              </a:rPr>
              <a:t>↓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1036320" y="2889504"/>
            <a:ext cx="10668000" cy="51206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9" name="Text 17"/>
          <p:cNvSpPr/>
          <p:nvPr/>
        </p:nvSpPr>
        <p:spPr>
          <a:xfrm>
            <a:off x="1158240" y="2926080"/>
            <a:ext cx="304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2400E"/>
                </a:solidFill>
              </a:rPr>
              <a:t>Pourquoi surchauffe ?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267200" y="292608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→  Ventilation encrassée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87680" y="3523488"/>
            <a:ext cx="390144" cy="39014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" y="3523488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2400E"/>
                </a:solidFill>
              </a:rPr>
              <a:t>3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21792" y="3913632"/>
            <a:ext cx="1219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CA5A5"/>
                </a:solidFill>
              </a:rPr>
              <a:t>↓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1036320" y="3523488"/>
            <a:ext cx="10668000" cy="51206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5" name="Text 23"/>
          <p:cNvSpPr/>
          <p:nvPr/>
        </p:nvSpPr>
        <p:spPr>
          <a:xfrm>
            <a:off x="1158240" y="3560064"/>
            <a:ext cx="304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2400E"/>
                </a:solidFill>
              </a:rPr>
              <a:t>Pourquoi encrassée ?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4267200" y="3560064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→  Filtre absent depuis 3 mois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487680" y="4157472"/>
            <a:ext cx="390144" cy="39014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680" y="4157472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92400E"/>
                </a:solidFill>
              </a:rPr>
              <a:t>4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21792" y="4547616"/>
            <a:ext cx="1219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CA5A5"/>
                </a:solidFill>
              </a:rPr>
              <a:t>↓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1036320" y="4157472"/>
            <a:ext cx="10668000" cy="51206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1158240" y="4194048"/>
            <a:ext cx="304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2400E"/>
                </a:solidFill>
              </a:rPr>
              <a:t>Pourquoi absent ?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4267200" y="4194048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→  Pas de plan maintenance préventive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487680" y="4791456"/>
            <a:ext cx="390144" cy="390144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680" y="4791456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5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1036320" y="4791456"/>
            <a:ext cx="10668000" cy="51206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Text 34"/>
          <p:cNvSpPr/>
          <p:nvPr/>
        </p:nvSpPr>
        <p:spPr>
          <a:xfrm>
            <a:off x="1158240" y="4828032"/>
            <a:ext cx="304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92400E"/>
                </a:solidFill>
              </a:rPr>
              <a:t>CAUSE RACINE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4267200" y="4828032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→  Système de gestion maintenance préventive inexistant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487680" y="5608320"/>
            <a:ext cx="11216640" cy="7315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9" name="Shape 37"/>
          <p:cNvSpPr/>
          <p:nvPr/>
        </p:nvSpPr>
        <p:spPr>
          <a:xfrm>
            <a:off x="487680" y="5608320"/>
            <a:ext cx="73152" cy="7315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0" name="Text 38"/>
          <p:cNvSpPr/>
          <p:nvPr/>
        </p:nvSpPr>
        <p:spPr>
          <a:xfrm>
            <a:off x="682752" y="5644896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SOLUTION : Implémenter plan MP · GEMBA · Check-liste mensuelle</a:t>
            </a:r>
            <a:endParaRPr lang="en-US" sz="1333" dirty="0"/>
          </a:p>
          <a:p>
            <a:r>
              <a:rPr lang="en-US" sz="1333" b="1" dirty="0">
                <a:solidFill>
                  <a:srgbClr val="166534"/>
                </a:solidFill>
              </a:rPr>
              <a:t>RÉSULTAT : 0 panne ventilation en 6 mois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44" name="Text 42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12/20</a:t>
            </a:r>
            <a:endParaRPr lang="en-US" sz="1467" dirty="0"/>
          </a:p>
        </p:txBody>
      </p:sp>
      <p:sp>
        <p:nvSpPr>
          <p:cNvPr id="46" name="Shape 44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3 : OUTILS TERRAIN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— Réduire temps de changement d'outils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Single Minute Exchange of Die · Shigeo Shingo 1950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1402080"/>
            <a:ext cx="646176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7" b="1" kern="0" spc="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SMED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548640" y="1682496"/>
            <a:ext cx="6461760" cy="128016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82496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767840"/>
            <a:ext cx="1584960" cy="3048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7840"/>
            <a:ext cx="1584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767840"/>
            <a:ext cx="597408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467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ARRÊTÉE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31520" y="2170176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Démontage · Nettoyage · Installation · Alignement · Test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646176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b="1" dirty="0">
                <a:solidFill>
                  <a:srgbClr val="0B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Transformer en EXTERNE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60064"/>
            <a:ext cx="6461760" cy="1280160"/>
          </a:xfrm>
          <a:prstGeom prst="rect">
            <a:avLst/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60064"/>
            <a:ext cx="73152" cy="1280160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645408"/>
            <a:ext cx="1584960" cy="304800"/>
          </a:xfrm>
          <a:prstGeom prst="roundRect">
            <a:avLst>
              <a:gd name="adj" fmla="val 16000"/>
            </a:avLst>
          </a:prstGeom>
          <a:solidFill>
            <a:srgbClr val="3492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45408"/>
            <a:ext cx="1584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645408"/>
            <a:ext cx="597408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467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EN MARCHE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731520" y="4047744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outils · Préchauffer · À portée main · Check-list prête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315200" y="1402080"/>
            <a:ext cx="4328160" cy="26822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1402080"/>
            <a:ext cx="4328160" cy="341376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23" name="Text 21"/>
          <p:cNvSpPr/>
          <p:nvPr/>
        </p:nvSpPr>
        <p:spPr>
          <a:xfrm>
            <a:off x="7437120" y="1402080"/>
            <a:ext cx="4084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OCP — Changement mâles concasseur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37120" y="1853184"/>
            <a:ext cx="408432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4h 30min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37120" y="2218944"/>
            <a:ext cx="408432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2h 15min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37120" y="2621280"/>
            <a:ext cx="1950720" cy="390144"/>
          </a:xfrm>
          <a:prstGeom prst="roundRect">
            <a:avLst>
              <a:gd name="adj" fmla="val 15625"/>
            </a:avLst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7437120" y="2621280"/>
            <a:ext cx="19507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-50%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2621280"/>
            <a:ext cx="19507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-2h/fois = 150h/an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7437120" y="3145536"/>
            <a:ext cx="408432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Chariot outils dédié + Check-list + Préparation shift avant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548640" y="5181600"/>
            <a:ext cx="11094720" cy="6705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181600"/>
            <a:ext cx="73152" cy="67056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2" name="Text 30"/>
          <p:cNvSpPr/>
          <p:nvPr/>
        </p:nvSpPr>
        <p:spPr>
          <a:xfrm>
            <a:off x="670560" y="5266944"/>
            <a:ext cx="108752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00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 : Filmer une intervention · Lister opérations · Classifier interne/externe → Potentiel identifié en 1 journée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12192" y="6486144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832" y="6486144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2450592" y="6486144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41152" y="6486144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11/18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3 : OUTILS TERRAIN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— Générer des solutions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Alex Osborn 1941 · 4 formats adaptés terrain maintenance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1402080"/>
            <a:ext cx="5425440" cy="2048256"/>
          </a:xfrm>
          <a:prstGeom prst="roundRect">
            <a:avLst>
              <a:gd name="adj" fmla="val 4167"/>
            </a:avLst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02080"/>
            <a:ext cx="5425440" cy="34137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646176" y="140208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CLASSIQUE — STANDARD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560" y="186537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6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1219200" y="1865376"/>
            <a:ext cx="4572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pers · 20-40 min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219200" y="223113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équipe · Animateur · Tableau blanc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670560" y="3084576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Réunion équipe planifiée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02080"/>
            <a:ext cx="5425440" cy="2048256"/>
          </a:xfrm>
          <a:prstGeom prst="roundRect">
            <a:avLst>
              <a:gd name="adj" fmla="val 4167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02080"/>
            <a:ext cx="5425440" cy="3413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315456" y="140208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— URGENCE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9840" y="186537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6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</a:t>
            </a:r>
            <a:endParaRPr lang="en-US" sz="2667" dirty="0"/>
          </a:p>
        </p:txBody>
      </p:sp>
      <p:sp>
        <p:nvSpPr>
          <p:cNvPr id="18" name="Text 16"/>
          <p:cNvSpPr/>
          <p:nvPr/>
        </p:nvSpPr>
        <p:spPr>
          <a:xfrm>
            <a:off x="6888480" y="1865376"/>
            <a:ext cx="4572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pers · 10-15 min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888480" y="223113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Debout · Rapide · 1 problème unique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339840" y="3084576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Début de shift · Problème du jour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425440" cy="2048256"/>
          </a:xfrm>
          <a:prstGeom prst="roundRect">
            <a:avLst>
              <a:gd name="adj" fmla="val 4167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57600"/>
            <a:ext cx="5425440" cy="341376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176" y="365760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WRITING — HIÉRARCHIE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0560" y="412089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6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667" dirty="0"/>
          </a:p>
        </p:txBody>
      </p:sp>
      <p:sp>
        <p:nvSpPr>
          <p:cNvPr id="25" name="Text 23"/>
          <p:cNvSpPr/>
          <p:nvPr/>
        </p:nvSpPr>
        <p:spPr>
          <a:xfrm>
            <a:off x="1219200" y="4120896"/>
            <a:ext cx="4572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 · 30 min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1219200" y="448665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écrit 3 idées · Passe la feuille · 6×3×5 = 100 idées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670560" y="5340096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Quand le chef est dans la salle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5425440" cy="2048256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657600"/>
            <a:ext cx="5425440" cy="3413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315456" y="365760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— ÉQUIPE INDISPONIBLE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9840" y="412089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6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67" dirty="0"/>
          </a:p>
        </p:txBody>
      </p:sp>
      <p:sp>
        <p:nvSpPr>
          <p:cNvPr id="32" name="Text 30"/>
          <p:cNvSpPr/>
          <p:nvPr/>
        </p:nvSpPr>
        <p:spPr>
          <a:xfrm>
            <a:off x="6888480" y="4120896"/>
            <a:ext cx="45720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 · 15 min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6888480" y="448665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· Note TOUS les gaspillages vus · Sans filtre · Sans jugement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6339840" y="5340096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Quand toute l'équipe est indisponible au même moment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156960"/>
            <a:ext cx="11094720" cy="99974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6156960"/>
            <a:ext cx="73152" cy="999744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37" name="Text 35"/>
          <p:cNvSpPr/>
          <p:nvPr/>
        </p:nvSpPr>
        <p:spPr>
          <a:xfrm>
            <a:off x="670560" y="6217920"/>
            <a:ext cx="1087526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EXEMPLE OCP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0560" y="6461760"/>
            <a:ext cx="10875264" cy="63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SOLO : Technicien note 12 gaspillages pendant son shift → Best practice : Détection précoce → 3 pannes évitées la semaine suivante · Coût évité : 15k Dh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41" name="Text 39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12/18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3 · OUTILS 2ÈME GÉNÉRATION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· Management Visuel — Andon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Outils avancés pour terrain maintenance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645920"/>
            <a:ext cx="5486400" cy="34137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645920"/>
            <a:ext cx="5486400" cy="341376"/>
          </a:xfrm>
          <a:prstGeom prst="rect">
            <a:avLst/>
          </a:prstGeom>
          <a:solidFill>
            <a:srgbClr val="349245"/>
          </a:solidFill>
          <a:ln/>
        </p:spPr>
      </p:sp>
      <p:sp>
        <p:nvSpPr>
          <p:cNvPr id="8" name="Text 6"/>
          <p:cNvSpPr/>
          <p:nvPr/>
        </p:nvSpPr>
        <p:spPr>
          <a:xfrm>
            <a:off x="560832" y="1645920"/>
            <a:ext cx="5364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5G — Les 5 Gemba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268224" cy="268224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097024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Gemba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877824" y="2353056"/>
            <a:ext cx="487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Aller sur terrain atelier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268224" cy="268224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609088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Gembutsu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877824" y="2865120"/>
            <a:ext cx="487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Observer l'équipement réel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268224" cy="268224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3121152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Genjitsu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877824" y="3377184"/>
            <a:ext cx="487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Données réelles · 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68224" cy="268224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633216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Genri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77824" y="3889248"/>
            <a:ext cx="487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Principes ingénierie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268224" cy="268224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45280"/>
            <a:ext cx="4876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6534"/>
                </a:solidFill>
              </a:rPr>
              <a:t>Genba Walk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877824" y="4401312"/>
            <a:ext cx="487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15 min/jour · 3 MUDA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645920"/>
            <a:ext cx="5486400" cy="34137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645920"/>
            <a:ext cx="5486400" cy="3413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1645920"/>
            <a:ext cx="5364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ANDON — Management Visuel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072640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Rendre l'état visible immédiatement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291072" y="2499360"/>
            <a:ext cx="463296" cy="463296"/>
          </a:xfrm>
          <a:prstGeom prst="ellipse">
            <a:avLst/>
          </a:prstGeom>
          <a:solidFill>
            <a:srgbClr val="349245"/>
          </a:solidFill>
          <a:ln/>
        </p:spPr>
      </p:sp>
      <p:sp>
        <p:nvSpPr>
          <p:cNvPr id="29" name="Text 27"/>
          <p:cNvSpPr/>
          <p:nvPr/>
        </p:nvSpPr>
        <p:spPr>
          <a:xfrm>
            <a:off x="6888480" y="2499360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349245"/>
                </a:solidFill>
              </a:rPr>
              <a:t>VERT</a:t>
            </a:r>
            <a:endParaRPr lang="en-US" sz="1333" dirty="0">
              <a:solidFill>
                <a:srgbClr val="349245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88480" y="2767584"/>
            <a:ext cx="426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Équipement OK · Production normale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91072" y="3230880"/>
            <a:ext cx="463296" cy="463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888480" y="3230880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59E0B"/>
                </a:solidFill>
              </a:rPr>
              <a:t>ORANGE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6888480" y="3499104"/>
            <a:ext cx="426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Vigilance · Planifié maintenance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91072" y="3962400"/>
            <a:ext cx="463296" cy="463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888480" y="3962400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F4444"/>
                </a:solidFill>
              </a:rPr>
              <a:t>ROUGE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6888480" y="4230624"/>
            <a:ext cx="426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B7280"/>
                </a:solidFill>
              </a:rPr>
              <a:t>Panne · Action immédiate requise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7680" y="5242560"/>
            <a:ext cx="11216640" cy="6096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5315712"/>
            <a:ext cx="11033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400E"/>
                </a:solidFill>
              </a:rPr>
              <a:t>🏭 EXEMPLE OCP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5216" y="5632704"/>
            <a:ext cx="11033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74151"/>
                </a:solidFill>
              </a:rPr>
              <a:t>Tableau ANDON salle contrôle : 20 équipements · Vert/Orange/Rouge visible de loin · Temps réaction panne -40%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43" name="Text 41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15/20</a:t>
            </a:r>
            <a:endParaRPr lang="en-US" sz="1467" dirty="0"/>
          </a:p>
        </p:txBody>
      </p:sp>
      <p:sp>
        <p:nvSpPr>
          <p:cNvPr id="45" name="Shape 43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CONCLUSION</a:t>
            </a:r>
            <a:endParaRPr lang="en-US" sz="1067" dirty="0"/>
          </a:p>
        </p:txBody>
      </p:sp>
      <p:sp>
        <p:nvSpPr>
          <p:cNvPr id="3" name="Text 1"/>
          <p:cNvSpPr/>
          <p:nvPr/>
        </p:nvSpPr>
        <p:spPr>
          <a:xfrm>
            <a:off x="487680" y="4632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 réellement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1582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Résultats mesurés OCP + industrie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87424"/>
            <a:ext cx="11216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609344"/>
            <a:ext cx="5486400" cy="158496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87680" y="1609344"/>
            <a:ext cx="73152" cy="1584960"/>
          </a:xfrm>
          <a:prstGeom prst="rect">
            <a:avLst/>
          </a:prstGeom>
          <a:solidFill>
            <a:srgbClr val="1F8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1264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F81B2"/>
                </a:solidFill>
              </a:rPr>
              <a:t>-40%</a:t>
            </a:r>
            <a:endParaRPr lang="en-US" sz="4267" dirty="0">
              <a:solidFill>
                <a:srgbClr val="1F81B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2194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11827"/>
                </a:solidFill>
              </a:rPr>
              <a:t>Pannes récurrentes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2804160" y="1755648"/>
            <a:ext cx="30480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En 6 mois avec PDCA + 5P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9344"/>
            <a:ext cx="5486400" cy="158496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609344"/>
            <a:ext cx="73152" cy="1584960"/>
          </a:xfrm>
          <a:prstGeom prst="rect">
            <a:avLst/>
          </a:prstGeom>
          <a:solidFill>
            <a:srgbClr val="6EB9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760" y="1731264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6EB92E"/>
                </a:solidFill>
              </a:rPr>
              <a:t>+2h/j</a:t>
            </a:r>
            <a:endParaRPr lang="en-US" sz="4267" dirty="0">
              <a:solidFill>
                <a:srgbClr val="6EB92E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2523744"/>
            <a:ext cx="2194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11827"/>
                </a:solidFill>
              </a:rPr>
              <a:t>Disponibilité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534400" y="1755648"/>
            <a:ext cx="30480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Par équipement · Sans investissement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680" y="3438144"/>
            <a:ext cx="5486400" cy="158496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7680" y="3438144"/>
            <a:ext cx="73152" cy="158496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0064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0B7A6A"/>
                </a:solidFill>
              </a:rPr>
              <a:t>-50%</a:t>
            </a:r>
            <a:endParaRPr lang="en-US" sz="4267" dirty="0"/>
          </a:p>
        </p:txBody>
      </p:sp>
      <p:sp>
        <p:nvSpPr>
          <p:cNvPr id="19" name="Text 17"/>
          <p:cNvSpPr/>
          <p:nvPr/>
        </p:nvSpPr>
        <p:spPr>
          <a:xfrm>
            <a:off x="731520" y="4352544"/>
            <a:ext cx="2194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11827"/>
                </a:solidFill>
              </a:rPr>
              <a:t>Temps d'intervention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2804160" y="3584448"/>
            <a:ext cx="30480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Avec SMED + Organisation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438144"/>
            <a:ext cx="5486400" cy="158496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3438144"/>
            <a:ext cx="73152" cy="1584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61760" y="3560064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59E0B"/>
                </a:solidFill>
              </a:rPr>
              <a:t>0 Dh</a:t>
            </a:r>
            <a:endParaRPr lang="en-US" sz="4267" dirty="0"/>
          </a:p>
        </p:txBody>
      </p:sp>
      <p:sp>
        <p:nvSpPr>
          <p:cNvPr id="24" name="Text 22"/>
          <p:cNvSpPr/>
          <p:nvPr/>
        </p:nvSpPr>
        <p:spPr>
          <a:xfrm>
            <a:off x="6461760" y="4352544"/>
            <a:ext cx="2194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11827"/>
                </a:solidFill>
              </a:rPr>
              <a:t>Pour commencer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8534400" y="3584448"/>
            <a:ext cx="30480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Juste votre regard · 15 min/jour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461760"/>
            <a:ext cx="12192000" cy="85344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" y="6583680"/>
            <a:ext cx="97536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43840" y="6644640"/>
            <a:ext cx="975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4B87"/>
                </a:solidFill>
              </a:rPr>
              <a:t>OCP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1341120" y="672998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Maintenance Lean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11216640" y="67299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FFFFFF"/>
                </a:solidFill>
              </a:rPr>
              <a:t>18/20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0" y="6437376"/>
            <a:ext cx="12192000" cy="24384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38F78584-44ED-F939-C456-D6A66A747E47}"/>
              </a:ext>
            </a:extLst>
          </p:cNvPr>
          <p:cNvSpPr/>
          <p:nvPr/>
        </p:nvSpPr>
        <p:spPr>
          <a:xfrm>
            <a:off x="487680" y="5041392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7" b="1" kern="0" spc="2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RÉSULTATS</a:t>
            </a:r>
            <a:endParaRPr lang="en-US" sz="1067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AEB5C5B9-B1FC-5056-27B2-B18A99BB5D04}"/>
              </a:ext>
            </a:extLst>
          </p:cNvPr>
          <p:cNvSpPr/>
          <p:nvPr/>
        </p:nvSpPr>
        <p:spPr>
          <a:xfrm>
            <a:off x="487680" y="5370576"/>
            <a:ext cx="2682240" cy="1194816"/>
          </a:xfrm>
          <a:prstGeom prst="roundRect">
            <a:avLst>
              <a:gd name="adj" fmla="val 6122"/>
            </a:avLst>
          </a:prstGeom>
          <a:solidFill>
            <a:srgbClr val="135679"/>
          </a:solidFill>
          <a:ln/>
        </p:spPr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9116BD5-11A0-6D4B-BCC4-37CB376830CE}"/>
              </a:ext>
            </a:extLst>
          </p:cNvPr>
          <p:cNvSpPr/>
          <p:nvPr/>
        </p:nvSpPr>
        <p:spPr>
          <a:xfrm>
            <a:off x="585216" y="5443728"/>
            <a:ext cx="249936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SEMAINE</a:t>
            </a:r>
            <a:endParaRPr lang="en-US" sz="120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DF6D7126-187B-75D4-EB4C-8CB8157136D0}"/>
              </a:ext>
            </a:extLst>
          </p:cNvPr>
          <p:cNvSpPr/>
          <p:nvPr/>
        </p:nvSpPr>
        <p:spPr>
          <a:xfrm>
            <a:off x="585216" y="5772912"/>
            <a:ext cx="249936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MUDA</a:t>
            </a:r>
            <a:endParaRPr lang="en-US" sz="1200" dirty="0"/>
          </a:p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Gemba Walk</a:t>
            </a:r>
            <a:endParaRPr lang="en-US" sz="12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5FEE2A06-DF41-CCD8-1085-83786F112CBC}"/>
              </a:ext>
            </a:extLst>
          </p:cNvPr>
          <p:cNvSpPr/>
          <p:nvPr/>
        </p:nvSpPr>
        <p:spPr>
          <a:xfrm>
            <a:off x="3352800" y="5370576"/>
            <a:ext cx="2682240" cy="1194816"/>
          </a:xfrm>
          <a:prstGeom prst="roundRect">
            <a:avLst>
              <a:gd name="adj" fmla="val 6122"/>
            </a:avLst>
          </a:prstGeom>
          <a:solidFill>
            <a:srgbClr val="1F81B2"/>
          </a:solidFill>
          <a:ln/>
        </p:spPr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9CFC4C93-7E57-EEB4-4110-7343892F8641}"/>
              </a:ext>
            </a:extLst>
          </p:cNvPr>
          <p:cNvSpPr/>
          <p:nvPr/>
        </p:nvSpPr>
        <p:spPr>
          <a:xfrm>
            <a:off x="3450336" y="5443728"/>
            <a:ext cx="249936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MOIS</a:t>
            </a:r>
            <a:endParaRPr lang="en-US" sz="12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986C3C47-5333-13AD-E582-2745A65DE367}"/>
              </a:ext>
            </a:extLst>
          </p:cNvPr>
          <p:cNvSpPr/>
          <p:nvPr/>
        </p:nvSpPr>
        <p:spPr>
          <a:xfrm>
            <a:off x="3450336" y="5772912"/>
            <a:ext cx="249936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résultats</a:t>
            </a:r>
            <a:endParaRPr lang="en-US" sz="1200" dirty="0"/>
          </a:p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</a:t>
            </a:r>
            <a:endParaRPr lang="en-US" sz="1200" dirty="0"/>
          </a:p>
        </p:txBody>
      </p:sp>
      <p:sp>
        <p:nvSpPr>
          <p:cNvPr id="42" name="Shape 32">
            <a:extLst>
              <a:ext uri="{FF2B5EF4-FFF2-40B4-BE49-F238E27FC236}">
                <a16:creationId xmlns:a16="http://schemas.microsoft.com/office/drawing/2014/main" id="{6C0963D1-61CA-BD47-B6A9-B0CA70FB6211}"/>
              </a:ext>
            </a:extLst>
          </p:cNvPr>
          <p:cNvSpPr/>
          <p:nvPr/>
        </p:nvSpPr>
        <p:spPr>
          <a:xfrm>
            <a:off x="6217920" y="5370576"/>
            <a:ext cx="2682240" cy="1194816"/>
          </a:xfrm>
          <a:prstGeom prst="roundRect">
            <a:avLst>
              <a:gd name="adj" fmla="val 6122"/>
            </a:avLst>
          </a:prstGeom>
          <a:solidFill>
            <a:srgbClr val="41ACD7"/>
          </a:solidFill>
          <a:ln/>
        </p:spPr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3E971F14-3B8D-EAD0-6B37-0841AD075C61}"/>
              </a:ext>
            </a:extLst>
          </p:cNvPr>
          <p:cNvSpPr/>
          <p:nvPr/>
        </p:nvSpPr>
        <p:spPr>
          <a:xfrm>
            <a:off x="6315456" y="5443728"/>
            <a:ext cx="249936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20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A64E7FAE-280A-9296-894A-89BFE2F4B408}"/>
              </a:ext>
            </a:extLst>
          </p:cNvPr>
          <p:cNvSpPr/>
          <p:nvPr/>
        </p:nvSpPr>
        <p:spPr>
          <a:xfrm>
            <a:off x="6315456" y="5772912"/>
            <a:ext cx="249936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 dirty="0"/>
          </a:p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1200" dirty="0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3D781C0A-2CA8-2DA6-CB1C-5E087160A0FD}"/>
              </a:ext>
            </a:extLst>
          </p:cNvPr>
          <p:cNvSpPr/>
          <p:nvPr/>
        </p:nvSpPr>
        <p:spPr>
          <a:xfrm>
            <a:off x="9083040" y="5370576"/>
            <a:ext cx="2682240" cy="1194816"/>
          </a:xfrm>
          <a:prstGeom prst="roundRect">
            <a:avLst>
              <a:gd name="adj" fmla="val 6122"/>
            </a:avLst>
          </a:prstGeom>
          <a:solidFill>
            <a:srgbClr val="50BCEA"/>
          </a:solidFill>
          <a:ln/>
        </p:spPr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6C8626C0-9BE9-3FAF-B0AF-A1128C847984}"/>
              </a:ext>
            </a:extLst>
          </p:cNvPr>
          <p:cNvSpPr/>
          <p:nvPr/>
        </p:nvSpPr>
        <p:spPr>
          <a:xfrm>
            <a:off x="9180576" y="5443728"/>
            <a:ext cx="249936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2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0E6AE760-2CDF-5E01-AF32-101BB4013E23}"/>
              </a:ext>
            </a:extLst>
          </p:cNvPr>
          <p:cNvSpPr/>
          <p:nvPr/>
        </p:nvSpPr>
        <p:spPr>
          <a:xfrm>
            <a:off x="9180576" y="5772912"/>
            <a:ext cx="249936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 pannes</a:t>
            </a:r>
            <a:endParaRPr lang="en-US" sz="1200" dirty="0"/>
          </a:p>
          <a:p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PARTIE 4 : PLAN D'ACTION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pratique — Du 18 au 22 Mai 2026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B7280"/>
                </a:solidFill>
              </a:rPr>
              <a:t>Les 5 étapes · Outils utilisés · Gains concrets à chaque étape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1402080"/>
            <a:ext cx="2133600" cy="5425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02080"/>
            <a:ext cx="2133600" cy="463296"/>
          </a:xfrm>
          <a:prstGeom prst="rect">
            <a:avLst/>
          </a:prstGeom>
          <a:solidFill>
            <a:srgbClr val="135679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402080"/>
            <a:ext cx="201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135679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· Gemba Walk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670560" y="2499360"/>
            <a:ext cx="1889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terrain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3 MUDA observés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48640" y="5913120"/>
            <a:ext cx="2133600" cy="792480"/>
          </a:xfrm>
          <a:prstGeom prst="rect">
            <a:avLst/>
          </a:prstGeom>
          <a:solidFill>
            <a:srgbClr val="70B4E2"/>
          </a:solidFill>
          <a:ln>
            <a:solidFill>
              <a:srgbClr val="4FA4DD"/>
            </a:solidFill>
          </a:ln>
        </p:spPr>
      </p:sp>
      <p:sp>
        <p:nvSpPr>
          <p:cNvPr id="14" name="Text 12"/>
          <p:cNvSpPr/>
          <p:nvPr/>
        </p:nvSpPr>
        <p:spPr>
          <a:xfrm>
            <a:off x="646176" y="6010656"/>
            <a:ext cx="19751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MUDA identifiés</a:t>
            </a:r>
            <a:endParaRPr lang="en-US" sz="1200" dirty="0">
              <a:solidFill>
                <a:srgbClr val="135679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40736" y="1402080"/>
            <a:ext cx="2133600" cy="5425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40736" y="1402080"/>
            <a:ext cx="2133600" cy="463296"/>
          </a:xfrm>
          <a:prstGeom prst="rect">
            <a:avLst/>
          </a:prstGeom>
          <a:solidFill>
            <a:srgbClr val="1F8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913888" y="1402080"/>
            <a:ext cx="201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19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87040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1F81B2"/>
          </a:solidFill>
          <a:ln/>
        </p:spPr>
      </p:sp>
      <p:sp>
        <p:nvSpPr>
          <p:cNvPr id="19" name="Text 17"/>
          <p:cNvSpPr/>
          <p:nvPr/>
        </p:nvSpPr>
        <p:spPr>
          <a:xfrm>
            <a:off x="2987040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QQOQCCP + 5P</a:t>
            </a:r>
            <a:endParaRPr lang="en-US" sz="1067" dirty="0"/>
          </a:p>
        </p:txBody>
      </p:sp>
      <p:sp>
        <p:nvSpPr>
          <p:cNvPr id="20" name="Text 18"/>
          <p:cNvSpPr/>
          <p:nvPr/>
        </p:nvSpPr>
        <p:spPr>
          <a:xfrm>
            <a:off x="2962656" y="2499360"/>
            <a:ext cx="1889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sur MUDA critique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racine trouvée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2840736" y="5913120"/>
            <a:ext cx="2133600" cy="792480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2" name="Text 20"/>
          <p:cNvSpPr/>
          <p:nvPr/>
        </p:nvSpPr>
        <p:spPr>
          <a:xfrm>
            <a:off x="2938272" y="6010656"/>
            <a:ext cx="19751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✓ Cause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racine</a:t>
            </a:r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trouvée</a:t>
            </a:r>
            <a:endParaRPr lang="en-US" sz="1200" b="1" dirty="0">
              <a:solidFill>
                <a:srgbClr val="13567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32832" y="1402080"/>
            <a:ext cx="2133600" cy="5425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32832" y="1402080"/>
            <a:ext cx="2133600" cy="463296"/>
          </a:xfrm>
          <a:prstGeom prst="rect">
            <a:avLst/>
          </a:prstGeom>
          <a:solidFill>
            <a:srgbClr val="41ABDB"/>
          </a:solidFill>
          <a:ln/>
        </p:spPr>
      </p:sp>
      <p:sp>
        <p:nvSpPr>
          <p:cNvPr id="25" name="Text 23"/>
          <p:cNvSpPr/>
          <p:nvPr/>
        </p:nvSpPr>
        <p:spPr>
          <a:xfrm>
            <a:off x="5205984" y="1402080"/>
            <a:ext cx="201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79136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41ABDB"/>
          </a:solidFill>
          <a:ln/>
        </p:spPr>
      </p:sp>
      <p:sp>
        <p:nvSpPr>
          <p:cNvPr id="27" name="Text 25"/>
          <p:cNvSpPr/>
          <p:nvPr/>
        </p:nvSpPr>
        <p:spPr>
          <a:xfrm>
            <a:off x="5279136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067" dirty="0"/>
          </a:p>
        </p:txBody>
      </p:sp>
      <p:sp>
        <p:nvSpPr>
          <p:cNvPr id="28" name="Text 26"/>
          <p:cNvSpPr/>
          <p:nvPr/>
        </p:nvSpPr>
        <p:spPr>
          <a:xfrm>
            <a:off x="5254752" y="2499360"/>
            <a:ext cx="1889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stand-up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propose solutions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5132832" y="5913120"/>
            <a:ext cx="2133600" cy="7924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6010656"/>
            <a:ext cx="19751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✓ Solution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choisie</a:t>
            </a:r>
            <a:endParaRPr lang="en-US" sz="1200" b="1" dirty="0">
              <a:solidFill>
                <a:srgbClr val="13567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24928" y="1402080"/>
            <a:ext cx="2133600" cy="5425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24928" y="1402080"/>
            <a:ext cx="2133600" cy="463296"/>
          </a:xfrm>
          <a:prstGeom prst="rect">
            <a:avLst/>
          </a:prstGeom>
          <a:solidFill>
            <a:srgbClr val="50BCEA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1402080"/>
            <a:ext cx="201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21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71232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50BCEA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— Do</a:t>
            </a:r>
            <a:endParaRPr lang="en-US" sz="1067" dirty="0"/>
          </a:p>
        </p:txBody>
      </p:sp>
      <p:sp>
        <p:nvSpPr>
          <p:cNvPr id="36" name="Text 34"/>
          <p:cNvSpPr/>
          <p:nvPr/>
        </p:nvSpPr>
        <p:spPr>
          <a:xfrm>
            <a:off x="7546848" y="2499360"/>
            <a:ext cx="1889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solution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avant/après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7424928" y="5913120"/>
            <a:ext cx="2133600" cy="79248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8" name="Text 36"/>
          <p:cNvSpPr/>
          <p:nvPr/>
        </p:nvSpPr>
        <p:spPr>
          <a:xfrm>
            <a:off x="7522464" y="6010656"/>
            <a:ext cx="19751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✓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Résultat</a:t>
            </a:r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mesuré</a:t>
            </a:r>
            <a:endParaRPr lang="en-US" sz="1200" b="1" dirty="0">
              <a:solidFill>
                <a:srgbClr val="13567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717024" y="1402080"/>
            <a:ext cx="2133600" cy="5425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17024" y="1402080"/>
            <a:ext cx="2133600" cy="463296"/>
          </a:xfrm>
          <a:prstGeom prst="rect">
            <a:avLst/>
          </a:prstGeom>
          <a:solidFill>
            <a:srgbClr val="9BD8F5"/>
          </a:solidFill>
          <a:ln/>
        </p:spPr>
      </p:sp>
      <p:sp>
        <p:nvSpPr>
          <p:cNvPr id="41" name="Text 39"/>
          <p:cNvSpPr/>
          <p:nvPr/>
        </p:nvSpPr>
        <p:spPr>
          <a:xfrm>
            <a:off x="9790176" y="1402080"/>
            <a:ext cx="201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22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63328" y="2011680"/>
            <a:ext cx="1828800" cy="304800"/>
          </a:xfrm>
          <a:prstGeom prst="roundRect">
            <a:avLst>
              <a:gd name="adj" fmla="val 16000"/>
            </a:avLst>
          </a:prstGeom>
          <a:solidFill>
            <a:srgbClr val="9BD8F5"/>
          </a:solidFill>
          <a:ln/>
        </p:spPr>
      </p:sp>
      <p:sp>
        <p:nvSpPr>
          <p:cNvPr id="43" name="Text 41"/>
          <p:cNvSpPr/>
          <p:nvPr/>
        </p:nvSpPr>
        <p:spPr>
          <a:xfrm>
            <a:off x="9863328" y="201168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067" dirty="0"/>
          </a:p>
        </p:txBody>
      </p:sp>
      <p:sp>
        <p:nvSpPr>
          <p:cNvPr id="44" name="Text 42"/>
          <p:cNvSpPr/>
          <p:nvPr/>
        </p:nvSpPr>
        <p:spPr>
          <a:xfrm>
            <a:off x="9838944" y="2499360"/>
            <a:ext cx="1889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établi</a:t>
            </a:r>
            <a:endParaRPr lang="en-US" sz="1333" dirty="0"/>
          </a:p>
          <a:p>
            <a:r>
              <a:rPr lang="en-US" sz="13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Partager équipe</a:t>
            </a:r>
            <a:endParaRPr lang="en-US" sz="1333" dirty="0"/>
          </a:p>
        </p:txBody>
      </p:sp>
      <p:sp>
        <p:nvSpPr>
          <p:cNvPr id="45" name="Shape 43"/>
          <p:cNvSpPr/>
          <p:nvPr/>
        </p:nvSpPr>
        <p:spPr>
          <a:xfrm>
            <a:off x="9717024" y="5913120"/>
            <a:ext cx="2133600" cy="792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6" name="Text 44"/>
          <p:cNvSpPr/>
          <p:nvPr/>
        </p:nvSpPr>
        <p:spPr>
          <a:xfrm>
            <a:off x="9814560" y="6010656"/>
            <a:ext cx="19751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✓ Standard </a:t>
            </a:r>
            <a:r>
              <a:rPr lang="en-US" sz="1200" b="1" dirty="0" err="1">
                <a:solidFill>
                  <a:srgbClr val="135679"/>
                </a:solidFill>
                <a:latin typeface="Calibri" pitchFamily="34" charset="0"/>
                <a:cs typeface="Calibri" pitchFamily="34" charset="-120"/>
              </a:rPr>
              <a:t>diffusé</a:t>
            </a:r>
            <a:endParaRPr lang="en-US" sz="1200" b="1" dirty="0">
              <a:solidFill>
                <a:srgbClr val="13567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7132320"/>
            <a:ext cx="11094720" cy="54864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7168896"/>
            <a:ext cx="1085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 équipe × 3 MUDA/semaine × 50 sem = 750 MUDA/an → 3-5 semaines de travail gagnées · -40% pannes récurrentes en 6 mois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51" name="Text 49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16/18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866"/>
          </a:solidFill>
          <a:ln/>
        </p:spPr>
      </p:sp>
      <p:sp>
        <p:nvSpPr>
          <p:cNvPr id="3" name="Shape 1"/>
          <p:cNvSpPr/>
          <p:nvPr/>
        </p:nvSpPr>
        <p:spPr>
          <a:xfrm>
            <a:off x="7924800" y="0"/>
            <a:ext cx="1932432" cy="6684264"/>
          </a:xfrm>
          <a:prstGeom prst="rtTriangle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CONCLUSION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"Lean Maintenance : Un voyage, pas une destination."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365504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petit · Commencez maintenant · Capitalisez toujours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2072640" cy="128016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48256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Gemba Walk 15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04160" y="1975104"/>
            <a:ext cx="2072640" cy="128016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2804160" y="2048256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2804160" y="241401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5 Pourquoi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9680" y="1975104"/>
            <a:ext cx="2072640" cy="128016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6" name="Text 14"/>
          <p:cNvSpPr/>
          <p:nvPr/>
        </p:nvSpPr>
        <p:spPr>
          <a:xfrm>
            <a:off x="5059680" y="2048256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5059680" y="241401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Brainstorming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975104"/>
            <a:ext cx="2072640" cy="128016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048256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7315200" y="241401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test PDCA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0720" y="1975104"/>
            <a:ext cx="2072640" cy="128016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22" name="Text 20"/>
          <p:cNvSpPr/>
          <p:nvPr/>
        </p:nvSpPr>
        <p:spPr>
          <a:xfrm>
            <a:off x="9570720" y="2048256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9570720" y="241401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11296"/>
            <a:ext cx="3474720" cy="2072640"/>
          </a:xfrm>
          <a:prstGeom prst="roundRect">
            <a:avLst>
              <a:gd name="adj" fmla="val 5882"/>
            </a:avLst>
          </a:prstGeom>
          <a:solidFill>
            <a:srgbClr val="162B4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33216"/>
            <a:ext cx="3108960" cy="48768"/>
          </a:xfrm>
          <a:prstGeom prst="rect">
            <a:avLst/>
          </a:prstGeom>
          <a:solidFill>
            <a:srgbClr val="6EB9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755136"/>
            <a:ext cx="323088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133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</a:t>
            </a:r>
            <a:endParaRPr lang="en-US" sz="2133" dirty="0">
              <a:solidFill>
                <a:srgbClr val="92D050"/>
              </a:solidFill>
            </a:endParaRPr>
          </a:p>
          <a:p>
            <a:pPr algn="ctr"/>
            <a:r>
              <a:rPr lang="en-US" sz="2133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</a:t>
            </a:r>
            <a:endParaRPr lang="en-US" sz="2133" dirty="0">
              <a:solidFill>
                <a:srgbClr val="92D05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" y="4535424"/>
            <a:ext cx="323088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MUDA à la fois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4267200" y="3511296"/>
            <a:ext cx="3474720" cy="2072640"/>
          </a:xfrm>
          <a:prstGeom prst="roundRect">
            <a:avLst>
              <a:gd name="adj" fmla="val 5882"/>
            </a:avLst>
          </a:prstGeom>
          <a:solidFill>
            <a:srgbClr val="162B42"/>
          </a:solidFill>
          <a:ln/>
        </p:spPr>
      </p:sp>
      <p:sp>
        <p:nvSpPr>
          <p:cNvPr id="29" name="Shape 27"/>
          <p:cNvSpPr/>
          <p:nvPr/>
        </p:nvSpPr>
        <p:spPr>
          <a:xfrm>
            <a:off x="4450080" y="3633216"/>
            <a:ext cx="3108960" cy="487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4413504" y="3755136"/>
            <a:ext cx="323088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1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2133" dirty="0"/>
          </a:p>
        </p:txBody>
      </p:sp>
      <p:sp>
        <p:nvSpPr>
          <p:cNvPr id="31" name="Text 29"/>
          <p:cNvSpPr/>
          <p:nvPr/>
        </p:nvSpPr>
        <p:spPr>
          <a:xfrm>
            <a:off x="4413504" y="4535424"/>
            <a:ext cx="323088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18 mai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7985760" y="3511296"/>
            <a:ext cx="3474720" cy="2072640"/>
          </a:xfrm>
          <a:prstGeom prst="roundRect">
            <a:avLst>
              <a:gd name="adj" fmla="val 5882"/>
            </a:avLst>
          </a:prstGeom>
          <a:solidFill>
            <a:srgbClr val="162B42"/>
          </a:solidFill>
          <a:ln/>
        </p:spPr>
      </p:sp>
      <p:sp>
        <p:nvSpPr>
          <p:cNvPr id="33" name="Shape 31"/>
          <p:cNvSpPr/>
          <p:nvPr/>
        </p:nvSpPr>
        <p:spPr>
          <a:xfrm>
            <a:off x="8168640" y="3633216"/>
            <a:ext cx="3108960" cy="48768"/>
          </a:xfrm>
          <a:prstGeom prst="rect">
            <a:avLst/>
          </a:prstGeom>
          <a:solidFill>
            <a:srgbClr val="6EB92E"/>
          </a:solidFill>
          <a:ln/>
        </p:spPr>
      </p:sp>
      <p:sp>
        <p:nvSpPr>
          <p:cNvPr id="34" name="Text 32"/>
          <p:cNvSpPr/>
          <p:nvPr/>
        </p:nvSpPr>
        <p:spPr>
          <a:xfrm>
            <a:off x="8132064" y="3755136"/>
            <a:ext cx="3230880" cy="755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133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Capitalisez</a:t>
            </a:r>
            <a:endParaRPr lang="en-US" sz="2133" dirty="0">
              <a:solidFill>
                <a:srgbClr val="92D050"/>
              </a:solidFill>
            </a:endParaRPr>
          </a:p>
          <a:p>
            <a:pPr algn="ctr"/>
            <a:r>
              <a:rPr lang="en-US" sz="2133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</a:t>
            </a:r>
            <a:endParaRPr lang="en-US" sz="2133" dirty="0">
              <a:solidFill>
                <a:srgbClr val="92D05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132064" y="4535424"/>
            <a:ext cx="323088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les succès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548640" y="5791200"/>
            <a:ext cx="10363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équipe vous attend. Les outils sont prêts.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amélioration commence lundi.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548640" y="6565392"/>
            <a:ext cx="103632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4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Maintenance OCP — Formation KAIZEN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0" y="6318504"/>
            <a:ext cx="12192000" cy="390144"/>
          </a:xfrm>
          <a:prstGeom prst="rect">
            <a:avLst/>
          </a:prstGeom>
          <a:solidFill>
            <a:srgbClr val="162B42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318504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2438400" y="6318504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4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Lean Maintenance - KAIZEN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28960" y="6318504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12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A594C66-34F0-8BF3-C003-1044E3A84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065" y="237125"/>
            <a:ext cx="982257" cy="10247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960" y="121920"/>
            <a:ext cx="914400" cy="365760"/>
          </a:xfrm>
          <a:prstGeom prst="roundRect">
            <a:avLst>
              <a:gd name="adj" fmla="val 13333"/>
            </a:avLst>
          </a:prstGeom>
          <a:solidFill>
            <a:srgbClr val="004B87"/>
          </a:solidFill>
          <a:ln/>
        </p:spPr>
      </p:sp>
      <p:sp>
        <p:nvSpPr>
          <p:cNvPr id="3" name="Text 1"/>
          <p:cNvSpPr/>
          <p:nvPr/>
        </p:nvSpPr>
        <p:spPr>
          <a:xfrm>
            <a:off x="10728960" y="12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548640" y="121920"/>
            <a:ext cx="110947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 dirty="0">
                <a:solidFill>
                  <a:srgbClr val="6B7280"/>
                </a:solidFill>
              </a:rPr>
              <a:t>ANNEXE — MÉMO OUTILS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548640" y="426720"/>
            <a:ext cx="1109472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rapide terrain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548640" y="1560576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60576"/>
            <a:ext cx="2621280" cy="292608"/>
          </a:xfrm>
          <a:prstGeom prst="rect">
            <a:avLst/>
          </a:prstGeom>
          <a:solidFill>
            <a:srgbClr val="115679"/>
          </a:solidFill>
          <a:ln/>
        </p:spPr>
      </p:sp>
      <p:sp>
        <p:nvSpPr>
          <p:cNvPr id="8" name="Text 6"/>
          <p:cNvSpPr/>
          <p:nvPr/>
        </p:nvSpPr>
        <p:spPr>
          <a:xfrm>
            <a:off x="646176" y="156057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46176" y="1950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quotidienne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46176" y="2353056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2800" y="1560576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2800" y="1560576"/>
            <a:ext cx="2621280" cy="292608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50336" y="156057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QQOQCCP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3450336" y="1950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problème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3450336" y="2353056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56960" y="1560576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56960" y="1560576"/>
            <a:ext cx="2621280" cy="292608"/>
          </a:xfrm>
          <a:prstGeom prst="rect">
            <a:avLst/>
          </a:prstGeom>
          <a:solidFill>
            <a:srgbClr val="115679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156057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Pourquoi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254496" y="1950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racine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254496" y="2353056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1560576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560576"/>
            <a:ext cx="2621280" cy="292608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23" name="Text 21"/>
          <p:cNvSpPr/>
          <p:nvPr/>
        </p:nvSpPr>
        <p:spPr>
          <a:xfrm>
            <a:off x="9058656" y="156057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9058656" y="1950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temps changement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9058656" y="2353056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926080"/>
            <a:ext cx="2621280" cy="292608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76" y="29260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46176" y="3316224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solutions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46176" y="37185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10-40 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52800" y="2926080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52800" y="2926080"/>
            <a:ext cx="2621280" cy="292608"/>
          </a:xfrm>
          <a:prstGeom prst="rect">
            <a:avLst/>
          </a:prstGeom>
          <a:solidFill>
            <a:srgbClr val="115679"/>
          </a:solidFill>
          <a:ln/>
        </p:spPr>
      </p:sp>
      <p:sp>
        <p:nvSpPr>
          <p:cNvPr id="33" name="Text 31"/>
          <p:cNvSpPr/>
          <p:nvPr/>
        </p:nvSpPr>
        <p:spPr>
          <a:xfrm>
            <a:off x="3450336" y="29260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5G/Andon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3450336" y="3316224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visuel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3450336" y="37185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min/jour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56960" y="2926080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56960" y="2926080"/>
            <a:ext cx="2621280" cy="292608"/>
          </a:xfrm>
          <a:prstGeom prst="rect">
            <a:avLst/>
          </a:prstGeom>
          <a:solidFill>
            <a:srgbClr val="298B3A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29260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254496" y="3316224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grave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6254496" y="37185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3j-2sem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61120" y="2926080"/>
            <a:ext cx="2621280" cy="1219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961120" y="2926080"/>
            <a:ext cx="2621280" cy="292608"/>
          </a:xfrm>
          <a:prstGeom prst="rect">
            <a:avLst/>
          </a:prstGeom>
          <a:solidFill>
            <a:srgbClr val="115679"/>
          </a:solidFill>
          <a:ln/>
        </p:spPr>
      </p:sp>
      <p:sp>
        <p:nvSpPr>
          <p:cNvPr id="43" name="Text 41"/>
          <p:cNvSpPr/>
          <p:nvPr/>
        </p:nvSpPr>
        <p:spPr>
          <a:xfrm>
            <a:off x="9058656" y="29260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9058656" y="3316224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complexe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9058656" y="37185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mois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8753856"/>
            <a:ext cx="12192000" cy="390144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8753856"/>
            <a:ext cx="1219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OCP</a:t>
            </a:r>
            <a:endParaRPr lang="en-US" sz="1333" dirty="0"/>
          </a:p>
        </p:txBody>
      </p:sp>
      <p:sp>
        <p:nvSpPr>
          <p:cNvPr id="54" name="Text 52"/>
          <p:cNvSpPr/>
          <p:nvPr/>
        </p:nvSpPr>
        <p:spPr>
          <a:xfrm>
            <a:off x="2438400" y="8753856"/>
            <a:ext cx="73152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3C5FD"/>
                </a:solidFill>
              </a:rPr>
              <a:t>Formation Lean Maintenance - KAIZEN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728960" y="8753856"/>
            <a:ext cx="914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FFFFFF"/>
                </a:solidFill>
              </a:rPr>
              <a:t>17/18</a:t>
            </a:r>
            <a:endParaRPr lang="en-US" sz="1200" dirty="0"/>
          </a:p>
        </p:txBody>
      </p:sp>
      <p:sp>
        <p:nvSpPr>
          <p:cNvPr id="76" name="Shape 44">
            <a:extLst>
              <a:ext uri="{FF2B5EF4-FFF2-40B4-BE49-F238E27FC236}">
                <a16:creationId xmlns:a16="http://schemas.microsoft.com/office/drawing/2014/main" id="{BD0F2BA1-3C9D-6CC8-372D-BFC24150A9C0}"/>
              </a:ext>
            </a:extLst>
          </p:cNvPr>
          <p:cNvSpPr/>
          <p:nvPr/>
        </p:nvSpPr>
        <p:spPr>
          <a:xfrm>
            <a:off x="548640" y="4389120"/>
            <a:ext cx="11094720" cy="1633728"/>
          </a:xfrm>
          <a:prstGeom prst="roundRect">
            <a:avLst>
              <a:gd name="adj" fmla="val 2745"/>
            </a:avLst>
          </a:prstGeom>
          <a:solidFill>
            <a:srgbClr val="F3F4F6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ECC5A233-8A9A-3258-F4C1-A886F4208819}"/>
              </a:ext>
            </a:extLst>
          </p:cNvPr>
          <p:cNvSpPr/>
          <p:nvPr/>
        </p:nvSpPr>
        <p:spPr>
          <a:xfrm>
            <a:off x="792480" y="4486656"/>
            <a:ext cx="1060704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00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CHECKLIST QUOTIDIEN RESPONSABLE</a:t>
            </a:r>
            <a:endParaRPr lang="en-US" sz="1333" dirty="0"/>
          </a:p>
        </p:txBody>
      </p:sp>
      <p:sp>
        <p:nvSpPr>
          <p:cNvPr id="78" name="Text 46">
            <a:extLst>
              <a:ext uri="{FF2B5EF4-FFF2-40B4-BE49-F238E27FC236}">
                <a16:creationId xmlns:a16="http://schemas.microsoft.com/office/drawing/2014/main" id="{CEDBBF3A-78A9-F30B-DF3C-FBBB01D1AE94}"/>
              </a:ext>
            </a:extLst>
          </p:cNvPr>
          <p:cNvSpPr/>
          <p:nvPr/>
        </p:nvSpPr>
        <p:spPr>
          <a:xfrm>
            <a:off x="792480" y="49011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Gemba Walk 15 min — Noter 3 MUDA</a:t>
            </a:r>
            <a:endParaRPr lang="en-US" sz="1467" dirty="0"/>
          </a:p>
        </p:txBody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65397BCA-87E8-588A-36F1-79863B958A8B}"/>
              </a:ext>
            </a:extLst>
          </p:cNvPr>
          <p:cNvSpPr/>
          <p:nvPr/>
        </p:nvSpPr>
        <p:spPr>
          <a:xfrm>
            <a:off x="792480" y="55107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Vérifier ANDON — Planifier actions ROUGES</a:t>
            </a:r>
            <a:endParaRPr lang="en-US" sz="1467" dirty="0"/>
          </a:p>
        </p:txBody>
      </p:sp>
      <p:sp>
        <p:nvSpPr>
          <p:cNvPr id="80" name="Text 48">
            <a:extLst>
              <a:ext uri="{FF2B5EF4-FFF2-40B4-BE49-F238E27FC236}">
                <a16:creationId xmlns:a16="http://schemas.microsoft.com/office/drawing/2014/main" id="{D2E7F6D1-A4E1-CDD3-231A-8CBF96399EC3}"/>
              </a:ext>
            </a:extLst>
          </p:cNvPr>
          <p:cNvSpPr/>
          <p:nvPr/>
        </p:nvSpPr>
        <p:spPr>
          <a:xfrm>
            <a:off x="6339840" y="49011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Briefing équipe — QQOQCCP sur problème du jour</a:t>
            </a:r>
            <a:endParaRPr lang="en-US" sz="1467" dirty="0"/>
          </a:p>
        </p:txBody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E9B3652D-684E-EC94-4C75-A1B1330A0AF5}"/>
              </a:ext>
            </a:extLst>
          </p:cNvPr>
          <p:cNvSpPr/>
          <p:nvPr/>
        </p:nvSpPr>
        <p:spPr>
          <a:xfrm>
            <a:off x="6339840" y="5510784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Valider 1 amélioration KAIZEN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72193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1971</Words>
  <Application>Microsoft Office PowerPoint</Application>
  <PresentationFormat>Widescreen</PresentationFormat>
  <Paragraphs>493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Youness CHAMROUK</dc:creator>
  <cp:lastModifiedBy>Ahmed Youness CHAMROUK</cp:lastModifiedBy>
  <cp:revision>4</cp:revision>
  <dcterms:created xsi:type="dcterms:W3CDTF">2026-05-09T17:58:29Z</dcterms:created>
  <dcterms:modified xsi:type="dcterms:W3CDTF">2026-05-10T11:56:51Z</dcterms:modified>
</cp:coreProperties>
</file>