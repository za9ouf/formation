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Maintenance Lean &amp;</a:t>
            </a:r>
            <a:br/>
            <a:r>
              <a:t>Amelioration Continue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60A5FA"/>
                </a:solidFill>
              </a:defRPr>
            </a:pPr>
            <a:r>
              <a:t>Formation KAIZEN - Direction Maintenance OCP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93C5FD"/>
                </a:solidFill>
              </a:defRPr>
            </a:pPr>
            <a:r>
              <a:t>De l'experience cachee a l'excellence visible - 0 Dh d'investissement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657600"/>
            <a:ext cx="2560320" cy="1371600"/>
          </a:xfrm>
          <a:prstGeom prst="rect">
            <a:avLst/>
          </a:prstGeom>
          <a:solidFill>
            <a:srgbClr val="16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0A5FA"/>
                </a:solidFill>
              </a:defRPr>
            </a:pPr>
            <a:r>
              <a:t>-40%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891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93C5FD"/>
                </a:solidFill>
              </a:defRPr>
            </a:pPr>
            <a:r>
              <a:t>Pannes recurrentes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3657600"/>
            <a:ext cx="2560320" cy="1371600"/>
          </a:xfrm>
          <a:prstGeom prst="rect">
            <a:avLst/>
          </a:prstGeom>
          <a:solidFill>
            <a:srgbClr val="16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38404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0A5FA"/>
                </a:solidFill>
              </a:defRPr>
            </a:pPr>
            <a:r>
              <a:t>+2h/j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43891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93C5FD"/>
                </a:solidFill>
              </a:defRPr>
            </a:pPr>
            <a:r>
              <a:t>Disponibilite equipement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657600"/>
            <a:ext cx="2560320" cy="1371600"/>
          </a:xfrm>
          <a:prstGeom prst="rect">
            <a:avLst/>
          </a:prstGeom>
          <a:solidFill>
            <a:srgbClr val="16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38404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0A5FA"/>
                </a:solidFill>
              </a:defRPr>
            </a:pPr>
            <a:r>
              <a:t>0 Dh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43891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93C5FD"/>
                </a:solidFill>
              </a:defRPr>
            </a:pPr>
            <a:r>
              <a:t>D'investissement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3C5FD"/>
                </a:solidFill>
              </a:defRPr>
            </a:pPr>
            <a:r>
              <a:t>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INTRODUCTION - HISTORIQUE LEAN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3C5FD"/>
                </a:solidFill>
              </a:defRPr>
            </a:pPr>
            <a:r>
              <a:t>50 ans d'excellence industrielle - Une methode eprouvee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1950 - Toyota : TPS (Toyota Production System) par Taiichi Ohno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1970 - Japon : KAIZEN (Amelioration Continue) par Masaaki Imai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1986 - USA : Lean Thinking par Womack &amp; Jones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1990 - Monde : Six Sigma par Motorola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2000 - Industrie : Industry 4.0 - Lean 4.0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PARTIE 1 - LEAN THINKING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3C5FD"/>
                </a:solidFill>
              </a:defRPr>
            </a:pPr>
            <a:r>
              <a:t>KAIZEN vs KAIKAKU - Deux voies vers l'amelioration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3657600" cy="2743200"/>
          </a:xfrm>
          <a:prstGeom prst="rect">
            <a:avLst/>
          </a:prstGeom>
          <a:solidFill>
            <a:srgbClr val="162B42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291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0A5FA"/>
                </a:solidFill>
              </a:defRPr>
            </a:pPr>
            <a:r>
              <a:t>KAIZEN - Amelioration Continue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Petites etapes - Quotidien - Toute l'equipe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Sans investissement - Effet cumulatif</a:t>
            </a:r>
          </a:p>
          <a:p>
            <a:pPr>
              <a:defRPr sz="1400" b="1">
                <a:solidFill>
                  <a:srgbClr val="60A5FA"/>
                </a:solidFill>
              </a:defRPr>
            </a:pPr>
            <a:r>
              <a:t>1% x 365 jours = 37x mieux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463040"/>
            <a:ext cx="3657600" cy="2743200"/>
          </a:xfrm>
          <a:prstGeom prst="rect">
            <a:avLst/>
          </a:prstGeom>
          <a:solidFill>
            <a:srgbClr val="2D1414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1645920"/>
            <a:ext cx="3291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B923C"/>
                </a:solidFill>
              </a:defRPr>
            </a:pPr>
            <a:r>
              <a:t>KAIKAKU - Amelioration Radicale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Grand changement - Ponctuel - Experts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Investissement lourd - Effet immediat</a:t>
            </a:r>
          </a:p>
          <a:p>
            <a:pPr>
              <a:defRPr sz="1400" b="1">
                <a:solidFill>
                  <a:srgbClr val="FB923C"/>
                </a:solidFill>
              </a:defRPr>
            </a:pPr>
            <a:r>
              <a:t>Nouvel equipement = 1M Dh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0A5FA"/>
                </a:solidFill>
              </a:defRPr>
            </a:pPr>
            <a:r>
              <a:t>NOTRE APPROCHE : KAIZEN - Petites victoires = Grands resultats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3C5FD"/>
                </a:solidFill>
              </a:defRPr>
            </a:pPr>
            <a:r>
              <a:t>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PARTIE 1 - VALEUR AJOUTEE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3C5FD"/>
                </a:solidFill>
              </a:defRPr>
            </a:pPr>
            <a:r>
              <a:t>Ce que le client paie - et ce qu'il ne paie pas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2286000" cy="6400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16459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Valeur Ajoutee - Ce que le client PAIE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468880"/>
            <a:ext cx="2286000" cy="6400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25603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Non-VA Necessaire - Obligatoire (securite, admin)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383280"/>
            <a:ext cx="2286000" cy="6400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34747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NVA Supprimable - Pur gaspillage a ELIMINER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0A5FA"/>
                </a:solidFill>
              </a:defRPr>
            </a:pPr>
            <a:r>
              <a:t>REDUIRE LE GASPILLAGE DE 45% A 20% = +2h/personne/jour = 25% DE CAPACITE SUPPLEMENTAIRE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3C5FD"/>
                </a:solidFill>
              </a:defRPr>
            </a:pPr>
            <a:r>
              <a:t>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PARTIE 1 - LES 7 MUDA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3C5FD"/>
                </a:solidFill>
              </a:defRPr>
            </a:pPr>
            <a:r>
              <a:t>MUDA = Gaspillage - Les 7 gaspillages a eliminer en 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1. SURPRODUCTION : Rapports non lus, Stocks pieces excessifs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2. ATTENTE : Technicien attend piece, Attente autorisation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3. TRANSPORT : Pieces stock loin, Allers-retours magasin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4. TRAITEMENT EXCESSIF : Rapports trop detailles, 3 validations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5. STOCKS : Pieces qui dorment, Obsolescence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6. MOUVEMENTS : Chercher outillage, Deplacements inutiles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634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7. DEFAUTS : Reprise, Retouche, Mauvais diagnostic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212079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+ 8eme MUDA : TALENT IGNORE - Ne pas ecouter ceux qui font le travail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PARTIE 2 - DEMARCHES : PDCA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3C5FD"/>
                </a:solidFill>
              </a:defRPr>
            </a:pPr>
            <a:r>
              <a:t>W. Edwards Deming 1950 - Cycle d'amelioration quotidienne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P - PLAN : Definir l'objectif, Analyser les causes, Planifier l'action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D - DO : Tester la solution, Perimetre limite, Mesurer en continu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C - CHECK : Mesurer les resultats, Analyser les ecarts, Valider l'efficacite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A - ACT : Standardiser, Capitaliser, Etendre aux autres equipes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PARTIE 2 - DEMARCHES : DMAIC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3C5FD"/>
                </a:solidFill>
              </a:defRPr>
            </a:pPr>
            <a:r>
              <a:t>Six Sigma - Motorola 1986 - Projets complexes 1-3 mois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D - DEFINIR : Charte projet, QQOQCCP, Scope + 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M - MESURER : Collecter donnees, Baseline, Indicateurs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A - ANALYSER : 5 Pourquoi, Ishikawa, Donnees statistiques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I - IMPROVE : Generer solutions, Pilotes,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C - CONTROL : Standardiser, Suivi KPI, Documentation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PARTIE 2 - DEMARCHES : 8D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3C5FD"/>
                </a:solidFill>
              </a:defRPr>
            </a:pPr>
            <a:r>
              <a:t>Ford Motor Company 1987 - Incident grave - 3 jours a 2 semaines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D1 - EQUIPE : Multidisciplinaire (Meca + Elec + Prod)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D2 - DEFINIR : Description precise, QQOQCCP complet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D3 - ACTION IMMEDIATE : Stopper l'hemorragie, Mesure conservatoire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D4 - CAUSES RACINES : 5 Pourquoi + Ishikawa, Preuves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D5 - SOLUTIONS : Impact vs Faisabilite, Permanent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D6 - IMPLEMENTER : Plan + Responsables, Delais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634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D7 - PREVENTIVES : Empêcher récurrence, Autres equipements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212079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D8 - CAPITALISER : Partager leçons, Base de connaissances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PARTIE 3 - OUTILS TERRAIN : QQOQCCP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3C5FD"/>
                </a:solidFill>
              </a:defRPr>
            </a:pPr>
            <a:r>
              <a:t>Methode journalistique - 30 minutes - Pour bien definir un probleme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Q - QUI : Equipe A, Shift matin, Technicien: M. Benali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Q - QUOI : Vibration anormale broyeur, Bruit inhabituel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O - OU : Broyeur BK3, Palier 2, Cote moteur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Q - QUAND : Demarrage production, 6h du matin, Depuis 3 jours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C - COMMENT : Vibration 12mm/s, Alarme rouge, Temperature +15C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C - COMBIEN : 3x/semaine, -2h/arret, -500t 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634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P - POURQUOI : Perte production 500t/an, Risque casseur, Cout 20k Dh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PARTIE 3 - OUTILS TERRAIN : 5 POURQUOI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3C5FD"/>
                </a:solidFill>
              </a:defRPr>
            </a:pPr>
            <a:r>
              <a:t>Taiichi Ohno - Toyota 1950 - 15 minutes - Trouver la cause racine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PROBLEME : Moteur convoyeur L4 en panne -&gt; Arret ligne 4h, Perte 40t, Cout 8k Dh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1. Pourquoi panne ? -&gt; Surchauffe moteur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2. Pourquoi surchauffe ? -&gt; Ventilation encrassee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3. Pourquoi encrassee ? -&gt; Filtre absent depuis 3 mois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4. Pourquoi absent ? -&gt; Pas de plan maintenance preventive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5. CAUSE RACINE -&gt; Systeme de gestion MP inexistant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634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SOLUTION : Implémenter plan MP + GEMBA mensuel + Check-liste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212079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RESULTAT : 0 panne ventilation en 6 mois, Gain 24h/an, Economie 12k Dh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PARTIE 3 - OUTILS TERRAIN : SMED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3C5FD"/>
                </a:solidFill>
              </a:defRPr>
            </a:pPr>
            <a:r>
              <a:t>Single Minute Exchange of Die - Shigeo Shingo 1950 - -50% temps changement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PRINCIPE : Transformer taches INTERNES (machine arrêtée) en EXTERNES (machine en marche)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INTERNE : Démontage, Nettoyage, Installation, Alignement,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EXTERNE : Préparer outils, Préchauffer, À portée main, Check-list prête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EXEMPLE OCP - Changement mâles concasseur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  AVANT : 4h 30min (INTERNE)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  APRES : 2h 15min (SMED)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634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  GAIN : -50%, 2h/fois, 150h/an sur 3 concasseurs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212079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ACTIONS : Chariot outils dédié + Check-list + Préparation shift avant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PARTIE 3 - OUTILS TERRAIN : BRAINSTORMING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3C5FD"/>
                </a:solidFill>
              </a:defRPr>
            </a:pPr>
            <a:r>
              <a:t>4 formats adaptés terrain 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CLASSIQUE : 6-10 pers, 20-40 min - Réunion équipe, Animateur, Tableau blanc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STAND-UP : 5-8 pers, 10-15 min - Debout, Rapide, 1 problème unique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BRAIN WRITING : 6 pers, 30 min - Chacun écrit 3 idées, Passe feuille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SOLO : 1 pers, 15 min - Seul, Note TOUS les gaspillages vus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EXEMPLE SOLO : Technicien note 12 gaspillages pendant son shift -&gt; Detection précoce 3 pannes évitées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PARTIE 3 - OUTILS 2ème GENERATION : 5G + ANDON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3C5FD"/>
                </a:solidFill>
              </a:defRPr>
            </a:pPr>
            <a:r>
              <a:t>Management visuel - 15 min/jour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5G - Les 5 Gemba 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  1. GEMBA - Aller sur terrain, Atelier, Ligne de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  2. GEMBUTSU - Observer l'équipement réel, Toucher, Ecouter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  3. GENJITSU - Données réelles, MES, Pas de supposition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  4. GENRI - Principes ingénierie, Physique, Mécanique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  5. GEMBA WALK - 15 min/jour, Noter 3 MUDA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634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ANDON - Management Visuel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212079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  VERT - Equipement OK, Production normale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760719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  ORANGE - Vigilance, Planifié maintenance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09359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  ROUGE - Panne, Action immédiate requise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857999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EXEMPLE OCP : Tableau ANDON salle contrôle - 20 équipements - Temps réaction panne -40%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PARTIE 3 - COMPARAISON 5G / GENGSOKU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3C5FD"/>
                </a:solidFill>
              </a:defRPr>
            </a:pPr>
            <a:r>
              <a:t>Comprendre l'écart pour ajuster votre pratique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5G - OBSERVER : Aller sur terrain, Voir l'équipement, Données réelles, Principes, Walk 15 min/jour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  But : OBSERVER la réalité, Comprendre ce qui se passe réellement sur le terrain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GENGSOKU - EXPÉRIMENTER : Faire soi-même, Essayer l'opération, Ressentir la difficulté, Identifier freins réels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  But : VIVRE le problème, Expérimenter ce que les opérateurs subissent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5G + GENGSOKU = Complémentaires pour une vraie compréhension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EXEMPLE : 5G -&gt; Je vois le technicien chercher l'outil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634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  GENGSOKU -&gt; Je cherche l'outil moi-même et je perds 15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212079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  ACTION : Chariot outillage mobile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PARTIE 4 - GAINS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3C5FD"/>
                </a:solidFill>
              </a:defRPr>
            </a:pPr>
            <a:r>
              <a:t>Ce que vous gagnez réellement - Résultats mesurés OCP + industrie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3840480" cy="1371600"/>
          </a:xfrm>
          <a:prstGeom prst="rect">
            <a:avLst/>
          </a:prstGeom>
          <a:solidFill>
            <a:srgbClr val="162B42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2C55E"/>
                </a:solidFill>
              </a:defRPr>
            </a:pPr>
            <a:r>
              <a:t>-40%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Pannes récurrentes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C8C8"/>
                </a:solidFill>
              </a:defRPr>
            </a:pPr>
            <a:r>
              <a:t>En 6 mois avec PDCA + 5P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463040"/>
            <a:ext cx="3840480" cy="1371600"/>
          </a:xfrm>
          <a:prstGeom prst="rect">
            <a:avLst/>
          </a:prstGeom>
          <a:solidFill>
            <a:srgbClr val="162B42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6459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</a:defRPr>
            </a:pPr>
            <a:r>
              <a:t>+2h/j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10312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Disponibilité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42316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C8C8"/>
                </a:solidFill>
              </a:defRPr>
            </a:pPr>
            <a:r>
              <a:t>Par équipement, Sans investissement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08960"/>
            <a:ext cx="3840480" cy="1371600"/>
          </a:xfrm>
          <a:prstGeom prst="rect">
            <a:avLst/>
          </a:prstGeom>
          <a:solidFill>
            <a:srgbClr val="162B42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91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A855F7"/>
                </a:solidFill>
              </a:defRPr>
            </a:pPr>
            <a:r>
              <a:t>-50%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49039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Temps d'intervention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690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C8C8"/>
                </a:solidFill>
              </a:defRPr>
            </a:pPr>
            <a:r>
              <a:t>Avec SMED + Organisation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3108960"/>
            <a:ext cx="3840480" cy="1371600"/>
          </a:xfrm>
          <a:prstGeom prst="rect">
            <a:avLst/>
          </a:prstGeom>
          <a:solidFill>
            <a:srgbClr val="162B42"/>
          </a:solidFill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3291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B923C"/>
                </a:solidFill>
              </a:defRPr>
            </a:pPr>
            <a:r>
              <a:t>0 Dh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749039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D'investissement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0690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C8C8"/>
                </a:solidFill>
              </a:defRPr>
            </a:pPr>
            <a:r>
              <a:t>Juste votre regard, 15 min/jour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54880"/>
            <a:ext cx="7680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1ere SEMAINE : Identifier MUDA, Gemba Walk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29200"/>
            <a:ext cx="7680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1er MOIS : Premiers resultats visibles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03520"/>
            <a:ext cx="7680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3 MOIS : Equipe autonome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577840"/>
            <a:ext cx="7680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6 MOIS : -40% pannes recurrentes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3C5FD"/>
                </a:solidFill>
              </a:defRPr>
            </a:pPr>
            <a:r>
              <a:t>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PARTIE 4 - PLAN D'ACTION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3C5FD"/>
                </a:solidFill>
              </a:defRPr>
            </a:pPr>
            <a:r>
              <a:t>Semaine pratique - Du 18 au 22 Mai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8046720" cy="822960"/>
          </a:xfrm>
          <a:prstGeom prst="rect">
            <a:avLst/>
          </a:prstGeom>
          <a:solidFill>
            <a:srgbClr val="162B42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LUNDI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5544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5G - Gemba Walk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8C8C8"/>
                </a:solidFill>
              </a:defRPr>
            </a:pPr>
            <a:r>
              <a:t>15 min terrain, Noter 3 MUDA observés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1600200"/>
            <a:ext cx="338328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0" y="169164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OK 3 MUDA identifiés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68880"/>
            <a:ext cx="8046720" cy="822960"/>
          </a:xfrm>
          <a:prstGeom prst="rect">
            <a:avLst/>
          </a:prstGeom>
          <a:solidFill>
            <a:srgbClr val="162B42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MARDI 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560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QQOQCCP + 5 Pourquoi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8036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8C8C8"/>
                </a:solidFill>
              </a:defRPr>
            </a:pPr>
            <a:r>
              <a:t>30 min sur MUDA critique, Équipe en stand-up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2606040"/>
            <a:ext cx="3383280" cy="5486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26974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OK Cause racine trouvée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74720"/>
            <a:ext cx="8046720" cy="822960"/>
          </a:xfrm>
          <a:prstGeom prst="rect">
            <a:avLst/>
          </a:prstGeom>
          <a:solidFill>
            <a:srgbClr val="162B42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5661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MERCREDI 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3566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Brainstorming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8862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8C8C8"/>
                </a:solidFill>
              </a:defRPr>
            </a:pPr>
            <a:r>
              <a:t>10 min stand-up, Équipe propose solutions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3611880"/>
            <a:ext cx="3383280" cy="5486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370332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OK Solution choisie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480560"/>
            <a:ext cx="8046720" cy="822960"/>
          </a:xfrm>
          <a:prstGeom prst="rect">
            <a:avLst/>
          </a:prstGeom>
          <a:solidFill>
            <a:srgbClr val="162B42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5720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B923C"/>
                </a:solidFill>
              </a:defRPr>
            </a:pPr>
            <a:r>
              <a:t>JEUDI 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45720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PDCA - 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8920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8C8C8"/>
                </a:solidFill>
              </a:defRPr>
            </a:pPr>
            <a:r>
              <a:t>Tester solution, Mesurer avant/après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0" y="4617720"/>
            <a:ext cx="3383280" cy="54864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0" y="47091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OK Résultat mesuré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486400"/>
            <a:ext cx="8046720" cy="822960"/>
          </a:xfrm>
          <a:prstGeom prst="rect">
            <a:avLst/>
          </a:prstGeom>
          <a:solidFill>
            <a:srgbClr val="162B42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5778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VENDREDI 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55778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Standardisation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8978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8C8C8"/>
                </a:solidFill>
              </a:defRPr>
            </a:pPr>
            <a:r>
              <a:t>Si succès : Standard, Partager aux autres équipes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0" y="5623560"/>
            <a:ext cx="3383280" cy="5486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0" y="57150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OK Standard diffusé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58368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60A5FA"/>
                </a:solidFill>
              </a:defRPr>
            </a:pPr>
            <a:r>
              <a:t>OBJECTIF SEMAINE : 1 KAIZEN testé par équipe = 5 améliorations concrètes OCP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949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3C5FD"/>
                </a:solidFill>
              </a:defRPr>
            </a:pPr>
            <a:r>
              <a:t>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ANNEXE - MÉMO OUTILS TERRAIN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3C5FD"/>
                </a:solidFill>
              </a:defRPr>
            </a:pPr>
            <a:r>
              <a:t>A emporter - Guide rapide terrain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PDCA : Amelioration quotidienne, Cycle 1 semaine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QQOQCCP : Definir probleme, 30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5 Pourquoi : Cause racine, 15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SMED : Reduire temps changement, Projet 1 mois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Brainstorming : Generer solutions, 10-40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5G/Andon : Management visuel, 15 min/jour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634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8D : Incident grave, 3j-2sem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212079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DMAIC : Projet complexe, 1-3 mois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760719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DCDC"/>
                </a:solidFill>
              </a:defRPr>
            </a:pPr>
            <a:r>
              <a:t>CHECKLIST QUOTIDIEN : Gemba Walk 15min, Verifier ANDON, Briefing équipe, Valider 1 KAIZEN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60A5FA"/>
                </a:solidFill>
              </a:defRPr>
            </a:pPr>
            <a:r>
              <a:t>"Lean Maintenance : Un voyage, pas une destination."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377440"/>
            <a:ext cx="6400800" cy="548640"/>
          </a:xfrm>
          <a:prstGeom prst="rect">
            <a:avLst/>
          </a:prstGeom>
          <a:solidFill>
            <a:srgbClr val="162B42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468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0A5FA"/>
                </a:solidFill>
              </a:defRPr>
            </a:pPr>
            <a:r>
              <a:t>Commencez PETIT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246888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1 MUDA a la fois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108960"/>
            <a:ext cx="6400800" cy="548640"/>
          </a:xfrm>
          <a:prstGeom prst="rect">
            <a:avLst/>
          </a:prstGeom>
          <a:solidFill>
            <a:srgbClr val="162B42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32004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0A5FA"/>
                </a:solidFill>
              </a:defRPr>
            </a:pPr>
            <a:r>
              <a:t>Commencez MAINTENANT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32004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Lundi 18 mai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840480"/>
            <a:ext cx="6400800" cy="548640"/>
          </a:xfrm>
          <a:prstGeom prst="rect">
            <a:avLst/>
          </a:prstGeom>
          <a:solidFill>
            <a:srgbClr val="162B42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3931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0A5FA"/>
                </a:solidFill>
              </a:defRPr>
            </a:pPr>
            <a:r>
              <a:t>Capitalisez TOUJOURS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9319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Partagez les succès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7548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Votre equipe vous attend. Les outils sont prets. La premiere amelioration commence lundi.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4864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C8C8C8"/>
                </a:solidFill>
              </a:defRPr>
            </a:pPr>
            <a:r>
              <a:t>Direction Maintenance OCP - Formation KAIZEN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3C5FD"/>
                </a:solidFill>
              </a:defRPr>
            </a:pPr>
            <a:r>
              <a:t>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