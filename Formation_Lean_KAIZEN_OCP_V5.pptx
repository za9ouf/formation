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LEAN MAINTENANCE</a:t>
            </a:r>
          </a:p>
          <a:p>
            <a:pPr algn="ctr">
              <a:defRPr sz="4000" b="1">
                <a:solidFill>
                  <a:srgbClr val="64B4FF"/>
                </a:solidFill>
              </a:defRPr>
            </a:pPr>
            <a:r>
              <a:t>&amp; AMELIORATION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43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D2FF"/>
                </a:solidFill>
              </a:defRPr>
            </a:pPr>
            <a:r>
              <a:t>Formation KAIZEN - Direction Maintenance OCP</a:t>
            </a:r>
          </a:p>
        </p:txBody>
      </p:sp>
      <p:sp>
        <p:nvSpPr>
          <p:cNvPr id="11" name="Trapezoid 10"/>
          <p:cNvSpPr/>
          <p:nvPr/>
        </p:nvSpPr>
        <p:spPr>
          <a:xfrm>
            <a:off x="1371600" y="1600200"/>
            <a:ext cx="6400800" cy="0"/>
          </a:xfrm>
          <a:prstGeom prst="trapezoid">
            <a:avLst/>
          </a:prstGeom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C8DC"/>
                </a:solidFill>
              </a:defRPr>
            </a:pPr>
            <a:r>
              <a:t>De l'experience vers la structure. Du gaspillage vers la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77440"/>
            <a:ext cx="2560320" cy="123444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DC64"/>
                </a:solidFill>
              </a:defRPr>
            </a:pPr>
            <a:r>
              <a:t>-40%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Pannes recurrentes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6D2FF"/>
                </a:solidFill>
              </a:defRPr>
            </a:pPr>
            <a:r>
              <a:t>En 6 mois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377440"/>
            <a:ext cx="2560320" cy="123444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606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DC64"/>
                </a:solidFill>
              </a:defRPr>
            </a:pPr>
            <a:r>
              <a:t>+2h/j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089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Disponibilite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33756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6D2FF"/>
                </a:solidFill>
              </a:defRPr>
            </a:pPr>
            <a:r>
              <a:t>Par equipement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377440"/>
            <a:ext cx="2560320" cy="123444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2DC64"/>
                </a:solidFill>
              </a:defRPr>
            </a:pPr>
            <a:r>
              <a:t>0 Dh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089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Investissement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3756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6D2FF"/>
                </a:solidFill>
              </a:defRPr>
            </a:pPr>
            <a:r>
              <a:t>Methode KAIZEN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32DC64"/>
                </a:solidFill>
              </a:defRPr>
            </a:pPr>
            <a:r>
              <a:t>'Ce n'est pas une question de budget. C'est une question de regard.'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891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A03C"/>
                </a:solidFill>
              </a:defRPr>
            </a:pPr>
            <a:r>
              <a:t>Votre equipe cache un potentiel enorme. Chaque jour.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 - HISTORIQUE 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50 ans d'excellence industrielle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7955279" cy="6400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6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96FF"/>
                </a:solidFill>
              </a:defRPr>
            </a:pPr>
            <a:r>
              <a:t>1950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188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Toyota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18872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TPS - Taiichi Ohno - Systeme de production Toyota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47088"/>
            <a:ext cx="7955279" cy="6400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64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3852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C896"/>
                </a:solidFill>
              </a:defRPr>
            </a:pPr>
            <a:r>
              <a:t>1970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93852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Japon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1938528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KAIZEN - Masaaki Imai - Amelioration continue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96896"/>
            <a:ext cx="7955279" cy="6400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8833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464"/>
                </a:solidFill>
              </a:defRPr>
            </a:pPr>
            <a:r>
              <a:t>1986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88336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688336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Lean Thinking - Womack &amp; Jones - 5 principes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3"/>
            <a:ext cx="7955279" cy="6400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3814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896"/>
                </a:solidFill>
              </a:defRPr>
            </a:pPr>
            <a:r>
              <a:t>1990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43814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438144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Six Sigma - Motorola - DMAIC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096511"/>
            <a:ext cx="7955279" cy="6400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87951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82FF"/>
                </a:solidFill>
              </a:defRPr>
            </a:pPr>
            <a:r>
              <a:t>2000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87951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Industrie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187951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Lean 4.0 - Digitalisation + Lean +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94960"/>
            <a:ext cx="7955279" cy="3200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Les meilleures entreprises industrielles utilisent ces methodes depuis 50 ans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1 : LEAN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KAIZEN vs KAIKAKU - Deux voies vers l'amelioration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3749039" cy="2377440"/>
          </a:xfrm>
          <a:prstGeom prst="roundRect">
            <a:avLst/>
          </a:prstGeom>
          <a:solidFill>
            <a:srgbClr val="00503C"/>
          </a:solidFill>
          <a:ln w="38100">
            <a:solidFill>
              <a:srgbClr val="32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34439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DC64"/>
                </a:solidFill>
              </a:defRPr>
            </a:pPr>
            <a:r>
              <a:t>KAIZEN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002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Petites etapes - Quotidien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Toute l'equipe participe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Sans investissement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Effet cumulatif</a:t>
            </a:r>
          </a:p>
          <a:p>
            <a:pPr>
              <a:defRPr sz="1300" b="1">
                <a:solidFill>
                  <a:srgbClr val="FFDC32"/>
                </a:solidFill>
              </a:defRPr>
            </a:pPr>
            <a:r>
              <a:t>1% x 365 = 37x mieux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097280"/>
            <a:ext cx="3749039" cy="2377440"/>
          </a:xfrm>
          <a:prstGeom prst="roundRect">
            <a:avLst/>
          </a:prstGeom>
          <a:solidFill>
            <a:srgbClr val="501E1E"/>
          </a:solidFill>
          <a:ln w="38100">
            <a:solidFill>
              <a:srgbClr val="FF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234439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A03C"/>
                </a:solidFill>
              </a:defRPr>
            </a:pPr>
            <a:r>
              <a:t>KAIKAKU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6002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Grand changement - Ponctuel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Experts / Consultants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Investissement lourd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Effet immediat</a:t>
            </a:r>
          </a:p>
          <a:p>
            <a:pPr>
              <a:defRPr sz="1300" b="1">
                <a:solidFill>
                  <a:srgbClr val="FFDC32"/>
                </a:solidFill>
              </a:defRPr>
            </a:pPr>
            <a:r>
              <a:t>Nouvel equipement = 1M Dh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116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7955279" cy="457200"/>
          </a:xfrm>
          <a:prstGeom prst="roundRect">
            <a:avLst/>
          </a:prstGeom>
          <a:solidFill>
            <a:srgbClr val="00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2DC64"/>
                </a:solidFill>
              </a:defRPr>
            </a:pPr>
            <a:r>
              <a:t>NOTRE APPROCHE : KAIZEN - Petites victoires quotidiennes = Grands resultats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1 : VALEUR AJOUTEE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Ce que le client paie - et ce qu'il ne paie pas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2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7043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DC64"/>
                </a:solidFill>
              </a:defRPr>
            </a:pPr>
            <a:r>
              <a:t>VA - 30%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17043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Valeur Ajoutee - Ce que le client PAIE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17043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Reparation, Diagnostic,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10512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83664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03C"/>
                </a:solidFill>
              </a:defRPr>
            </a:pPr>
            <a:r>
              <a:t>NVA - 25%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883664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Non-VA Necessaire - Obligatoire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883664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Securite, Admin, EPI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23744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96896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050"/>
                </a:solidFill>
              </a:defRPr>
            </a:pPr>
            <a:r>
              <a:t>GASPILLAGE - 45%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596896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NVA Supprimable - A ELIMINER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59689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8DC"/>
                </a:solidFill>
              </a:defRPr>
            </a:pPr>
            <a:r>
              <a:t>Attentes, Deplacements, Reprises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36976"/>
            <a:ext cx="7955279" cy="109728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28416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B4FF"/>
                </a:solidFill>
              </a:defRPr>
            </a:pPr>
            <a:r>
              <a:t>EXEMPLE : Intervention maintenance (8h)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48456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DC64"/>
                </a:solidFill>
              </a:defRPr>
            </a:pPr>
            <a:r>
              <a:t>VA (2.5h) : Diagnostic + Reparation + Test</a:t>
            </a:r>
          </a:p>
          <a:p>
            <a:pPr>
              <a:defRPr sz="1000">
                <a:solidFill>
                  <a:srgbClr val="FFA03C"/>
                </a:solidFill>
              </a:defRPr>
            </a:pPr>
            <a:r>
              <a:t>NVA Necessaire (1.5h) : Consignation + EPI + Permis</a:t>
            </a:r>
          </a:p>
          <a:p>
            <a:pPr>
              <a:defRPr sz="1000">
                <a:solidFill>
                  <a:srgbClr val="FF5050"/>
                </a:solidFill>
              </a:defRPr>
            </a:pPr>
            <a:r>
              <a:t>Gaspillage (4h) : Chercher pieces + Attendre + Papiers inutiles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71416"/>
            <a:ext cx="7955279" cy="36576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17136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REDUIRE LE GASPILLAGE DE 45% A 20% = +2h/personne/jour = 25% DE CAPACITE SUPPLEMENTAIRE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1 : LES 7 MUDA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MUDA = Gaspillage - Les 7 gaspillages a eliminer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4300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464"/>
                </a:solidFill>
              </a:defRPr>
            </a:pPr>
            <a:r>
              <a:t>1. SURPRODUCTION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14300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Rapports non lus, Stocks pieces excessifs, Double saisie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664207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FF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70992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650"/>
                </a:solidFill>
              </a:defRPr>
            </a:pPr>
            <a:r>
              <a:t>2. ATTENTE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709928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Technicien attend piece, Attente autorisation, Attente equipement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231136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27685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864"/>
                </a:solidFill>
              </a:defRPr>
            </a:pPr>
            <a:r>
              <a:t>3.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276856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Pieces stock loin, Allers-retours magasin, Deplacements inutiles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798064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C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4378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8B464"/>
                </a:solidFill>
              </a:defRPr>
            </a:pPr>
            <a:r>
              <a:t>4. TRAITEMENT EXCESSIF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843784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Rapports trop detailles, 3 validations, Reunions sans fin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64992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96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1071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6B464"/>
                </a:solidFill>
              </a:defRPr>
            </a:pPr>
            <a:r>
              <a:t>5. STOCKS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410712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Pieces qui dorment, Obsolescence, Sur-stockage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931920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64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77639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96"/>
                </a:solidFill>
              </a:defRPr>
            </a:pPr>
            <a:r>
              <a:t>6. MOUVEMENTS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77639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Chercher outillage, Mauvaise ergonomie, Allers-retours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498848"/>
            <a:ext cx="7955279" cy="475488"/>
          </a:xfrm>
          <a:prstGeom prst="roundRect">
            <a:avLst/>
          </a:prstGeom>
          <a:solidFill>
            <a:srgbClr val="00325F"/>
          </a:solidFill>
          <a:ln w="12700">
            <a:solidFill>
              <a:srgbClr val="96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4456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664B4"/>
                </a:solidFill>
              </a:defRPr>
            </a:pPr>
            <a:r>
              <a:t>7. DEFAUTS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544568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Reprise - Retouche, Mauvais diagnostic, Re-reparation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065776"/>
            <a:ext cx="7955279" cy="320040"/>
          </a:xfrm>
          <a:prstGeom prst="round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93208"/>
            <a:ext cx="7589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8eme MUDA : TALENT IGNORE - Ne pas ecouter ceux qui font le travail = gaspiller leur expertise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03C"/>
                </a:solidFill>
              </a:defRPr>
            </a:pPr>
            <a:r>
              <a:t>Deming 1950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2 : DEMARCHES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PDCA - La roue de l'amelioration continue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71600"/>
            <a:ext cx="3886200" cy="137160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3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C8CFF"/>
                </a:solidFill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50876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783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Definir objectif - Analyser causes - Planifier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371600"/>
            <a:ext cx="3886200" cy="137160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3C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4630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CC878"/>
                </a:solidFill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50876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783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Tester solution - Perimetre limite - Mesurer en continu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926080"/>
            <a:ext cx="3886200" cy="137160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A050"/>
                </a:solidFill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0632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37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Mesurer resultats - Analyser ecarts - Valider efficacite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926080"/>
            <a:ext cx="3886200" cy="137160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017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64FF"/>
                </a:solidFill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0632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337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Standardiser - Capitaliser - Etendre aux equipes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480560"/>
            <a:ext cx="7955279" cy="36576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DC32"/>
                </a:solidFill>
              </a:defRPr>
            </a:pPr>
            <a:r>
              <a:t>EXEMPLE : Arret concasseur 4h/semaine -&gt; P: Objectif 1h + Causes -&gt; D: Test -&gt; C: Resultat 0.8h -&gt; A: Standard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03C"/>
                </a:solidFill>
              </a:defRPr>
            </a:pPr>
            <a:r>
              <a:t>Six Sigma - Motorola 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2 : DEMARCHES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DMAIC - Pour problemes complexes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71600"/>
            <a:ext cx="7955279" cy="50292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C8CFF"/>
                </a:solidFill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41732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DEFINIR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41732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Charte projet - QQOQCCP - Scope + Objectifs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984248"/>
            <a:ext cx="7955279" cy="50292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C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29967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CC878"/>
                </a:solidFill>
              </a:defRPr>
            </a:pPr>
            <a: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29967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MESURER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029967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Collecter donnees - Baseline - Indicateurs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596896"/>
            <a:ext cx="7955279" cy="50292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42615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A050"/>
                </a:solidFill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42615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ANALYSER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642615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5 Pourquoi - Ishikawa - Statistiques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09544"/>
            <a:ext cx="7955279" cy="50292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55263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464FF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255263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255263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Generer solutions - Pilotes -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822191"/>
            <a:ext cx="7955279" cy="50292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867911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4B4"/>
                </a:solidFill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867911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3867911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Standardiser - Suivi KPI -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03C"/>
                </a:solidFill>
              </a:defRPr>
            </a:pPr>
            <a:r>
              <a:t>Ford 1987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2 : DEMARCHES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00584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8D - Resolution d'incidents graves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71600"/>
            <a:ext cx="3886200" cy="457200"/>
          </a:xfrm>
          <a:prstGeom prst="roundRect">
            <a:avLst/>
          </a:prstGeom>
          <a:solidFill>
            <a:srgbClr val="FF5050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39903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39903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Equipe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6002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Multidisciplinaire - Meca + Elec + Prod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371600"/>
            <a:ext cx="3886200" cy="457200"/>
          </a:xfrm>
          <a:prstGeom prst="roundRect">
            <a:avLst/>
          </a:prstGeom>
          <a:solidFill>
            <a:srgbClr val="FF5050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9903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39903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Definir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6002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Description precise - QQOQCCP complet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920240"/>
            <a:ext cx="3886200" cy="457200"/>
          </a:xfrm>
          <a:prstGeom prst="roundRect">
            <a:avLst/>
          </a:prstGeom>
          <a:solidFill>
            <a:srgbClr val="FF5050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94767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1947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Action immediate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148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Stopper hemorragie - Mesure conservatoire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192024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94767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9476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Causes racines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148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5 Pourquoi + Ishikawa - Preuves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246888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49631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26974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Impact vs Faisabilite - Permanent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246888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49631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Implementer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26974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Plan + Responsables - Delais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01752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4495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04495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Preventives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2461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Empecher recurrence - Autres equipements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301752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04495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304495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Capitaliser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2461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Partager lecons - Base connaissances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3566160"/>
            <a:ext cx="7955279" cy="45720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6118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DC32"/>
                </a:solidFill>
              </a:defRPr>
            </a:pPr>
            <a:r>
              <a:t>EXEMPLE OCP : Courroie transporteur rompue 3x en 1 mois -&gt; D1: Equipe | D2: Courroie rompue | D3: Installation temporaire | D4: Tension + qualite | D5-D7: Nouveau type + plan MP | D8: Standard tous transporteurs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3 : OUTILS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QQOQCCP - Comprendre avant d'agir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1247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Q</a:t>
            </a:r>
            <a:br/>
            <a:r>
              <a:t>Qui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124712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Equipe A - Shift matin - Technicien: M. Benali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481328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0876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Q</a:t>
            </a:r>
            <a:br/>
            <a:r>
              <a:t>Quoi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508760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Vibration anormale broyeur - Bruit inhabituel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865376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892807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</a:t>
            </a:r>
            <a:br/>
            <a:r>
              <a:t>Où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1892807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Broyeur BK3 - Palier 2 - Cote moteur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249424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7685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Q</a:t>
            </a:r>
            <a:br/>
            <a:r>
              <a:t>Quand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276856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Demarrage production - 6h - Depuis 3 jours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633472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60903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</a:t>
            </a:r>
            <a:br/>
            <a:r>
              <a:t>Comment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660903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Vibration 12mm/s - Alarme rouge - Temp +15C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017520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44951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</a:t>
            </a:r>
            <a:br/>
            <a:r>
              <a:t>Combien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044951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3x/semaine - -2h/arret - -500t 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401568"/>
            <a:ext cx="822960" cy="320040"/>
          </a:xfrm>
          <a:prstGeom prst="round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28999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</a:t>
            </a:r>
            <a:br/>
            <a:r>
              <a:t>Pourquoi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428999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Perte 500t/an - Risque casseur - Cout 20k Dh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785615"/>
            <a:ext cx="7955279" cy="320040"/>
          </a:xfrm>
          <a:prstGeom prst="roundRect">
            <a:avLst/>
          </a:prstGeom>
          <a:solidFill>
            <a:srgbClr val="006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813048"/>
            <a:ext cx="7589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RESULTAT : Probleme bien defini = Solution adaptee = Plus de recurrence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3 : OUTILS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5 POURQUOI - Trouver la cause racine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7955279" cy="320040"/>
          </a:xfrm>
          <a:prstGeom prst="roundRect">
            <a:avLst/>
          </a:prstGeom>
          <a:solidFill>
            <a:srgbClr val="6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24712"/>
            <a:ext cx="7589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PROBLEME : Moteur convoyeur L4 en panne -&gt; Arret ligne 4h - Perte 40t - Cout 8k Dh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08760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D2FF"/>
                </a:solidFill>
              </a:defRPr>
            </a:pPr>
            <a: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52704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1. Pourquoi panne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52704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-&gt; Surchauffe moteur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764792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D2FF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78308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2. Pourquoi surchauffe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7830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-&gt; Ventilation encrassee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020824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D2FF"/>
                </a:solidFill>
              </a:defRPr>
            </a:pPr>
            <a: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03911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3. Pourquoi encrassee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03911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-&gt; Filtre absent depuis 3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276856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D2FF"/>
                </a:solidFill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29514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4. Pourquoi absent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2951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-&gt; Pas de plan 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53288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D2FF"/>
                </a:solidFill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551176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2DC64"/>
                </a:solidFill>
              </a:defRPr>
            </a:pPr>
            <a:r>
              <a:t>5. CAUSE RACINE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55117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2DC64"/>
                </a:solidFill>
              </a:defRPr>
            </a:pPr>
            <a:r>
              <a:t>-&gt; Systeme gestion MP inexistant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2788920"/>
            <a:ext cx="7955279" cy="594360"/>
          </a:xfrm>
          <a:prstGeom prst="roundRect">
            <a:avLst/>
          </a:prstGeom>
          <a:solidFill>
            <a:srgbClr val="00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862072"/>
            <a:ext cx="7589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081528"/>
            <a:ext cx="7589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DC32"/>
                </a:solidFill>
              </a:defRPr>
            </a:pPr>
            <a:r>
              <a:t>Implementer plan MP - GEMBA mensuel - Check-liste ventilation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3 : OUTILS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SMED - Reduire temps de changement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3749039" cy="1280160"/>
          </a:xfrm>
          <a:prstGeom prst="roundRect">
            <a:avLst/>
          </a:prstGeom>
          <a:solidFill>
            <a:srgbClr val="641E1E"/>
          </a:solidFill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887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5050"/>
                </a:solidFill>
              </a:defRPr>
            </a:pPr>
            <a:r>
              <a:t>INTERNE (machine arretee)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63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• Demontage</a:t>
            </a:r>
            <a:br/>
            <a:r>
              <a:t>• Nettoyage</a:t>
            </a:r>
            <a:br/>
            <a:r>
              <a:t>• Installation</a:t>
            </a:r>
            <a:br/>
            <a:r>
              <a:t>• Alignement</a:t>
            </a:r>
            <a:br/>
            <a:r>
              <a:t>•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097280"/>
            <a:ext cx="3749039" cy="1280160"/>
          </a:xfrm>
          <a:prstGeom prst="roundRect">
            <a:avLst/>
          </a:prstGeom>
          <a:solidFill>
            <a:srgbClr val="005032"/>
          </a:solidFill>
          <a:ln w="38100">
            <a:solidFill>
              <a:srgbClr val="32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1887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DC64"/>
                </a:solidFill>
              </a:defRPr>
            </a:pPr>
            <a:r>
              <a:t>EXTERNE (machine en marche)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463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• Preparer outils</a:t>
            </a:r>
            <a:br/>
            <a:r>
              <a:t>• Prechauffer</a:t>
            </a:r>
            <a:br/>
            <a:r>
              <a:t>• A portee main</a:t>
            </a:r>
            <a:br/>
            <a:r>
              <a:t>• Check-list prete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508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514600"/>
            <a:ext cx="7955279" cy="36576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6032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DC32"/>
                </a:solidFill>
              </a:defRPr>
            </a:pPr>
            <a:r>
              <a:t>EXEMPLE OCP - Changement males concasseur | AVANT: 4h30 | APRES: 2h15 | GAIN: -50% = -2h/fois = 150h/an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971800"/>
            <a:ext cx="7955279" cy="274320"/>
          </a:xfrm>
          <a:prstGeom prst="roundRect">
            <a:avLst/>
          </a:prstGeom>
          <a:solidFill>
            <a:srgbClr val="006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90088"/>
            <a:ext cx="7589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2DC64"/>
                </a:solidFill>
              </a:defRPr>
            </a:pPr>
            <a:r>
              <a:t>PRINCIPE : Transformer taches INTERNES en EXTERNES = Reduire arret machine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3 : OUTILS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BRAINSTORMING - Generer des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43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8CFF"/>
                </a:solidFill>
              </a:defRPr>
            </a:pPr>
            <a:r>
              <a:t>CLASSIQUE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1430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6-10 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1430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20-40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1430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Reunion equipe - Animateur - Tableau blanc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801368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C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84708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C878"/>
                </a:solidFill>
              </a:defRPr>
            </a:pPr>
            <a:r>
              <a:t>STAND-UP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1847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5-8 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847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10-15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84708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Debout - Rapide - 1 probleme unique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505456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551176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64FF"/>
                </a:solidFill>
              </a:defRPr>
            </a:pPr>
            <a:r>
              <a:t>BRAIN 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25511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6 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5511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55117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Chacun ecrit 3 idees - Passe feuille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09544"/>
            <a:ext cx="7955279" cy="5943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5526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A050"/>
                </a:solidFill>
              </a:defRPr>
            </a:pPr>
            <a:r>
              <a:t>SOLO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2552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 pers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25526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25526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C8DC"/>
                </a:solidFill>
              </a:defRPr>
            </a:pPr>
            <a:r>
              <a:t>Seul - Note TOUS les gaspillages vus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3 : OUTILS 2EME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5G - ANDON - Management visuel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3749039" cy="192024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887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B4FF"/>
                </a:solidFill>
              </a:defRPr>
            </a:pPr>
            <a:r>
              <a:t>5G - Les 5 Gemba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8132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1. GEMBA : Aller sur terrain - Atelier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7393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2. GEMBUTSU : Observer equipement reel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66543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3. GENJITSU : Donnees reelles -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1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4. GENRI : Principes ingenierie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51759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5. GEMBA WALK : 15 min/jour - Noter 3 MUDA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097280"/>
            <a:ext cx="3749039" cy="192024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887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B4FF"/>
                </a:solidFill>
              </a:defRPr>
            </a:pPr>
            <a:r>
              <a:t>ANDON - Management Visuel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481328"/>
            <a:ext cx="3383280" cy="256032"/>
          </a:xfrm>
          <a:prstGeom prst="roundRect">
            <a:avLst/>
          </a:prstGeom>
          <a:solidFill>
            <a:srgbClr val="32D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49047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VERT - Equipement OK - Production normale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783080"/>
            <a:ext cx="3383280" cy="256032"/>
          </a:xfrm>
          <a:prstGeom prst="roundRect">
            <a:avLst/>
          </a:prstGeom>
          <a:solidFill>
            <a:srgbClr val="FF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79222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ORANGE - Vigilance - Planifie maintenance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3383280" cy="256032"/>
          </a:xfrm>
          <a:prstGeom prst="round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093975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ROUGE - Panne - Action immediate requise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154680"/>
            <a:ext cx="7955279" cy="27432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172968"/>
            <a:ext cx="7589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DC32"/>
                </a:solidFill>
              </a:defRPr>
            </a:pPr>
            <a:r>
              <a:t>EXEMPLE OCP : Tableau ANDON salle controle - 20 equipements - Vert/Orange/Rouge - Temps reaction panne -40%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3 : COMPARAISON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5G / GENGSOKU - Comprendre l'ecart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3749039" cy="219456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887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B4FF"/>
                </a:solidFill>
              </a:defRPr>
            </a:pPr>
            <a:r>
              <a:t>5G - OBSERVER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8132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• Aller sur terrain (Gemba)</a:t>
            </a:r>
            <a:br/>
            <a:r>
              <a:t>• Voir l'equipement (Gembutsu)</a:t>
            </a:r>
            <a:br/>
            <a:r>
              <a:t>• Donnees reelles (Genjitsu)</a:t>
            </a:r>
            <a:br/>
            <a:r>
              <a:t>• Principes (Genri)</a:t>
            </a:r>
            <a:br/>
            <a:r>
              <a:t>• Walk 15 min/jour</a:t>
            </a:r>
          </a:p>
          <a:p>
            <a:pPr>
              <a:defRPr sz="800" i="1">
                <a:solidFill>
                  <a:srgbClr val="96D2FF"/>
                </a:solidFill>
              </a:defRPr>
            </a:pPr>
            <a:r>
              <a:t>But : OBSERVER la realite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097280"/>
            <a:ext cx="3749039" cy="2194560"/>
          </a:xfrm>
          <a:prstGeom prst="roundRect">
            <a:avLst/>
          </a:prstGeom>
          <a:solidFill>
            <a:srgbClr val="502314"/>
          </a:solidFill>
          <a:ln w="25400">
            <a:solidFill>
              <a:srgbClr val="FF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1887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03C"/>
                </a:solidFill>
              </a:defRPr>
            </a:pPr>
            <a:r>
              <a:t>GENGSOKU - EXPERIMENTER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48132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• Faire soi-meme</a:t>
            </a:r>
            <a:br/>
            <a:r>
              <a:t>• Essayer l'operation</a:t>
            </a:r>
            <a:br/>
            <a:r>
              <a:t>• Ressentir la difficulte</a:t>
            </a:r>
            <a:br/>
            <a:r>
              <a:t>• Identifier freins reels</a:t>
            </a:r>
            <a:br/>
            <a:r>
              <a:t>• Duree : 1-2h</a:t>
            </a:r>
          </a:p>
          <a:p>
            <a:pPr>
              <a:defRPr sz="800" i="1">
                <a:solidFill>
                  <a:srgbClr val="FFA03C"/>
                </a:solidFill>
              </a:defRPr>
            </a:pPr>
            <a:r>
              <a:t>But : VIVRE le probleme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0116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29000"/>
            <a:ext cx="7955279" cy="27432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7589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2DC64"/>
                </a:solidFill>
              </a:defRPr>
            </a:pPr>
            <a:r>
              <a:t>5G + GENGSOKU = Complementaires pour une vraie comprehension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4 :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Ce que vous gagnez reellement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3886200" cy="118872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32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2DC64"/>
                </a:solidFill>
              </a:defRPr>
            </a:pPr>
            <a:r>
              <a:t>-40%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Pannes recurrentes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En 6 mois avec PDCA + 5P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097280"/>
            <a:ext cx="3886200" cy="118872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3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188720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C8CFF"/>
                </a:solidFill>
              </a:defRPr>
            </a:pPr>
            <a:r>
              <a:t>+2h/j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600200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Disponibilite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874519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Par equipement - Sans investissement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68880"/>
            <a:ext cx="3886200" cy="118872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60320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B464FF"/>
                </a:solidFill>
              </a:defRPr>
            </a:pPr>
            <a:r>
              <a:t>-50%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71800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Temps 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Avec SMED + Organisation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468880"/>
            <a:ext cx="3886200" cy="1188720"/>
          </a:xfrm>
          <a:prstGeom prst="roundRect">
            <a:avLst/>
          </a:prstGeom>
          <a:solidFill>
            <a:srgbClr val="00325F"/>
          </a:solidFill>
          <a:ln w="38100">
            <a:solidFill>
              <a:srgbClr val="FF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560320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A03C"/>
                </a:solidFill>
              </a:defRPr>
            </a:pPr>
            <a:r>
              <a:t>0 Dh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971800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Investissement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24612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Juste votre regard - 15 min/jour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840480"/>
            <a:ext cx="7955279" cy="109728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931920"/>
            <a:ext cx="7589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TIMELINE DE RESULTATS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87952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1ere SEMAINE -&gt; Identifier MUDA - Gemba Walk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1er MOIS -&gt; Premiers resultats visibles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90288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3 MOIS -&gt; Equipe autonome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91455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6 MOIS -&gt; -40% pannes recurrentes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PARTIE 4 : PLAN D'ACTION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Semaine pratique - Du 18 au 22 Mai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7955279" cy="6858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4300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8CFF"/>
                </a:solidFill>
              </a:defRPr>
            </a:pPr>
            <a:r>
              <a:t>LUNDI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143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5G - Gemba 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15 min terrain - Noter 3 MUDA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170432"/>
            <a:ext cx="2468880" cy="502920"/>
          </a:xfrm>
          <a:prstGeom prst="roundRect">
            <a:avLst/>
          </a:prstGeom>
          <a:solidFill>
            <a:srgbClr val="3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26187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OK 3 MUDA identifies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874519"/>
            <a:ext cx="7955279" cy="6858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2D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92023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DC64"/>
                </a:solidFill>
              </a:defRPr>
            </a:pPr>
            <a:r>
              <a:t>MARDI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1920239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QQOQCCP + 5P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1671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30 min sur MUDA critique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947672"/>
            <a:ext cx="2468880" cy="502920"/>
          </a:xfrm>
          <a:prstGeom prst="roundRect">
            <a:avLst/>
          </a:prstGeom>
          <a:solidFill>
            <a:srgbClr val="32D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03911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OK Cause racine trouvee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651760"/>
            <a:ext cx="7955279" cy="6858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69747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64FF"/>
                </a:solidFill>
              </a:defRPr>
            </a:pPr>
            <a:r>
              <a:t>MERCREDI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697479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Brainstorming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10 min stand-up - Solutions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724912"/>
            <a:ext cx="2468880" cy="502920"/>
          </a:xfrm>
          <a:prstGeom prst="round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281635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OK Solution choisie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429000"/>
            <a:ext cx="7955279" cy="6858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FF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747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A03C"/>
                </a:solidFill>
              </a:defRPr>
            </a:pPr>
            <a:r>
              <a:t>JEUDI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4747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PDCA -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Tester solution - Mesurer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502152"/>
            <a:ext cx="2468880" cy="502920"/>
          </a:xfrm>
          <a:prstGeom prst="roundRect">
            <a:avLst/>
          </a:prstGeom>
          <a:solidFill>
            <a:srgbClr val="FF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35935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OK Resultat mesure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206240"/>
            <a:ext cx="7955279" cy="6858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3C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5195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C878"/>
                </a:solidFill>
              </a:defRPr>
            </a:pPr>
            <a:r>
              <a:t>VENDREDI 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251959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Standardisation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Standard + Partager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4279392"/>
            <a:ext cx="2468880" cy="502920"/>
          </a:xfrm>
          <a:prstGeom prst="roundRect">
            <a:avLst/>
          </a:prstGeom>
          <a:solidFill>
            <a:srgbClr val="3C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4370831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OK Standard diffuse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ANNEXE - MEMO OUTILS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315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D2FF"/>
                </a:solidFill>
              </a:defRPr>
            </a:pPr>
            <a:r>
              <a:t>Guide rapide terrain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9728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4300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PDCA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14300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Amelioration quotidienne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14300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 semaine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09728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14300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QQOQCCP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14300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Definir probleme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14300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30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45919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691639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5 Pourquoi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1691639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Cause racine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169163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15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645919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691639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SMED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91639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Reduire temps changement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69163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 mois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19456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240279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Brainstorming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2240279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Generer solutions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224027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10-40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219456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240279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5G/Andon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240279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Management visuel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24027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15 min/jour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74320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7889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8D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278892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Incident grave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278892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3j-2sem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2743200"/>
            <a:ext cx="3886200" cy="45720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27889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DMAIC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78892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Projet complexe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78892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8DC"/>
                </a:solidFill>
              </a:defRPr>
            </a:pPr>
            <a:r>
              <a:t>1-3 mois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3291840"/>
            <a:ext cx="7955279" cy="914400"/>
          </a:xfrm>
          <a:prstGeom prst="roundRect">
            <a:avLst/>
          </a:prstGeom>
          <a:solidFill>
            <a:srgbClr val="00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383280"/>
            <a:ext cx="7589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B4FF"/>
                </a:solidFill>
              </a:defRPr>
            </a:pPr>
            <a:r>
              <a:t>CHECKLIST QUOTIDIEN RESPONSABLE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3621024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☐ Gemba Walk 15 min - Noter 3 MUDA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3803904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☐ Verifier ANDON - Planifier actions ROUGES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986784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☐ Briefing equipe - QQOQCCP sur probleme du jour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169664"/>
            <a:ext cx="7589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☐ Valider 1 amelioration KAIZEN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137160" cy="649224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28600"/>
            <a:ext cx="1371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058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B4FF"/>
                </a:solidFill>
              </a:defRPr>
            </a:pPr>
            <a:r>
              <a:t>'Lean Maintenance : Un voyage, pas une destination.'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5943600" cy="4114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87451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B4FF"/>
                </a:solidFill>
              </a:defRPr>
            </a:pPr>
            <a:r>
              <a:t>Commencez PETIT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19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1 MUDA a la fois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331720"/>
            <a:ext cx="5943600" cy="4114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37743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B4FF"/>
                </a:solidFill>
              </a:defRPr>
            </a:pPr>
            <a:r>
              <a:t>Commencez MAINTENANT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77439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Lundi 18 mai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834639"/>
            <a:ext cx="5943600" cy="411480"/>
          </a:xfrm>
          <a:prstGeom prst="roundRect">
            <a:avLst/>
          </a:prstGeom>
          <a:solidFill>
            <a:srgbClr val="00325F"/>
          </a:solidFill>
          <a:ln w="25400">
            <a:solidFill>
              <a:srgbClr val="0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88035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B4FF"/>
                </a:solidFill>
              </a:defRPr>
            </a:pPr>
            <a:r>
              <a:t>Capitalisez TOUJOURS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80359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Partagez les succes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576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2DC64"/>
                </a:solidFill>
              </a:defRPr>
            </a:pPr>
            <a:r>
              <a:t>Votre equipe vous attend. Les outils sont prets.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DC32"/>
                </a:solidFill>
              </a:defRPr>
            </a:pPr>
            <a:r>
              <a:t>La premiere amelioration commence lundi.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7200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C8DC"/>
                </a:solidFill>
              </a:defRPr>
            </a:pPr>
            <a:r>
              <a:t>Direction Maintenance OCP - Formation KAIZEN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" y="6537960"/>
            <a:ext cx="5943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5836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B87"/>
                </a:solidFill>
              </a:defRPr>
            </a:pPr>
            <a:r>
              <a:t>OCP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601968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Formation Lean Maintenance - KAIZEN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