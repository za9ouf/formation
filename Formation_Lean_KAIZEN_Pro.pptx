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Thinking &amp;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Continue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</a:rPr>
              <a:t>Penser et agir KAIZEN au quotidien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12700">
            <a:solidFill>
              <a:srgbClr val="1E4D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14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-40%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Problèmes récurrents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2514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10" name="Text 8"/>
          <p:cNvSpPr/>
          <p:nvPr/>
        </p:nvSpPr>
        <p:spPr>
          <a:xfrm>
            <a:off x="3355848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+2h/j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55848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De valeur ajoutée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2514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6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254496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0A5FA"/>
                </a:solidFill>
              </a:rPr>
              <a:t>0 Dh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54496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</a:rPr>
              <a:t>D'investissement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6B8A"/>
                </a:solidFill>
              </a:rPr>
              <a:t>Formation · 20 minutes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cette formation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Le travail non structuré cache un coût élevé invisible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E6FA8"/>
                </a:solidFill>
              </a:rPr>
              <a:t>LE COÛT CACHÉ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664208"/>
            <a:ext cx="16459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664208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Visible — 20%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384048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57200" y="2075688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Ligne de flottaison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Caché — 80%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Erreurs · Refaites · Attentes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41148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984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</a:rPr>
              <a:t>Ce qu'on vit au quotidien sans Lean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627632"/>
            <a:ext cx="54864" cy="2743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Problème résolu → revient 2 semaines après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039112"/>
            <a:ext cx="54864" cy="2743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Technicien attend une pièce introuvable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50592"/>
            <a:ext cx="54864" cy="2743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Réunion sans ordre du jour ni décision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62072"/>
            <a:ext cx="54864" cy="2743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Même erreur commise 3 fois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273552"/>
            <a:ext cx="54864" cy="27432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Rapport écrit mais jamais lu ni suivi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840480"/>
            <a:ext cx="54864" cy="54864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7705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Le coût caché représente 20 à 40% du temps de travail — et ça peut changer dès cette semaine.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INTRODUCTION · LA PROBLÉMATIQUE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amélioration structurée : le cercle vicieux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Problème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188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Pansement rapide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51960" y="1188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Le problème revient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1887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75120" y="1051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3E8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051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1A8"/>
                </a:solidFill>
              </a:rPr>
              <a:t>Stress équipe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15727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F4444"/>
                </a:solidFill>
              </a:rPr>
              <a:t>↓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ECAC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</a:rPr>
              <a:t>Fatigue / Erreur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46888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DE68A"/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350F"/>
                </a:solidFill>
              </a:rPr>
              <a:t>Nouveau problème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BBF7D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Morale dégradée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75120" y="19659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CA5A5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965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Perte de compétences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697480"/>
            <a:ext cx="841248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2697480"/>
            <a:ext cx="54864" cy="64008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273405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Faire de l'amélioration continue réduit considérablement les problèmes qui se répètent.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" y="3493008"/>
            <a:ext cx="54864" cy="86868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" y="3584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7A6A"/>
                </a:solidFill>
              </a:rPr>
              <a:t>Avec KAIZEN : On identifie → On analyse → On standardise → Le problème ne revient plus.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LEAN THINKING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Lean Management 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Lean = Maigre · Né chez Toyota TPS · Womack &amp; Jones 1990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0FDF4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68580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298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6A"/>
                </a:solidFill>
              </a:rPr>
              <a:t>Définition : Produire exactement ce que le client veut, en éliminant tout ce qui ne crée pas de valeur.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LES 5 PRINCIPES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Valeur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084832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/>
        </p:spPr>
      </p:sp>
      <p:sp>
        <p:nvSpPr>
          <p:cNvPr id="14" name="Text 12"/>
          <p:cNvSpPr/>
          <p:nvPr/>
        </p:nvSpPr>
        <p:spPr>
          <a:xfrm>
            <a:off x="2084832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Flux valeur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47872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03904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Flux continu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66944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/>
          <p:nvPr/>
        </p:nvSpPr>
        <p:spPr>
          <a:xfrm>
            <a:off x="5522976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Flux tiré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86016" y="2377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42048" y="22860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CE7F3"/>
          </a:solidFill>
          <a:ln/>
        </p:spPr>
      </p:sp>
      <p:sp>
        <p:nvSpPr>
          <p:cNvPr id="23" name="Text 21"/>
          <p:cNvSpPr/>
          <p:nvPr/>
        </p:nvSpPr>
        <p:spPr>
          <a:xfrm>
            <a:off x="7242048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1239"/>
                </a:solidFill>
              </a:rPr>
              <a:t>Perfection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F6"/>
                </a:solidFill>
              </a:rPr>
              <a:t>-40%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65760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Temps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87168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2487168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-30%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2487168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Coûts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4608576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444"/>
                </a:solidFill>
              </a:rPr>
              <a:t>-50%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08576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Défauts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9984" y="297180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6729984" y="30358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+25%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29984" y="3456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Productivité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PRIORITÉ KAIZEN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 — Notre priorité absolue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改善 · Amélioration continue · Masaaki Imai 1986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120640" cy="2560320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73152" cy="2560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6534"/>
                </a:solidFill>
              </a:rPr>
              <a:t>KAIZEN — NOTRE THÈME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572768"/>
            <a:ext cx="1188720" cy="2286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5727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</a:rPr>
              <a:t>RECOMMANDÉ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Petites améliorations quotidiennes impliquant TOUS les niveaux sans investissement.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04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29514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Observer : noter 3 gaspillages/jour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64261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Analyser : 5 Pourquoi en 30 min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9923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" y="29900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Améliorer : tester cette semaine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4670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34670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3375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Standardiser : partager si ça marche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931920"/>
            <a:ext cx="54864" cy="64008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" y="39684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6A"/>
                </a:solidFill>
              </a:rPr>
              <a:t>Une petite amélioration chaque jour par chaque équipe = des centaines de milliers de Dh économisés par an.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VALEUR AJOUTÉE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client paie — ce qu'il ne paie pas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RÉPARTITION D'UNE JOURNÉE DE TRAVAIL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523744" cy="3200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 · 30%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89504" y="1417320"/>
            <a:ext cx="21031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NVA non supp · 25%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92624" y="1417320"/>
            <a:ext cx="3785616" cy="3200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992624" y="1417320"/>
            <a:ext cx="3785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NVA supprimable · 45%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874520"/>
            <a:ext cx="2697480" cy="228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 CLIENT PAIE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8912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VA — Valeur Ajoutée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14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Transforme le produit vers l'objectif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2697480" cy="4114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3291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OPTIMISER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18745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1874520"/>
            <a:ext cx="269748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218688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NÉCESSAIRE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NVA non supprimable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414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Contraintes inévitables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3291840"/>
            <a:ext cx="269748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3273552" y="3291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RÉDUIRE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187452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71616" y="1874520"/>
            <a:ext cx="269748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6071616" y="18745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PUR GASPILLAGE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44768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NVA supprimable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44768" y="241401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N'ajoute aucune valeur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71616" y="3291840"/>
            <a:ext cx="269748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2918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SUPPRIMER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" y="4224528"/>
            <a:ext cx="54864" cy="347472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" y="4261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Réduire NVA-S de 45% → 20% = gain de ~2h/personne/jour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1 · LES 3 FORMES DE GASPILLAGE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formes + les 7 MUDA à éliminer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MUDA = 無駄 · Identifier, nommer, éliminer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MUDA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Gaspillage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18688" y="120700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3218688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MURI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Surcharge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71616" y="120700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/>
        </p:spPr>
      </p:sp>
      <p:sp>
        <p:nvSpPr>
          <p:cNvPr id="11" name="Text 9"/>
          <p:cNvSpPr/>
          <p:nvPr/>
        </p:nvSpPr>
        <p:spPr>
          <a:xfrm>
            <a:off x="6071616" y="12344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MURA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Variabilité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32257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Surproduction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Produire plus que la demande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1460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53512" y="232257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Attente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53512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Technicien attend pièce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02352" y="232257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Transport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Déplacer sans valeur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22860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51192" y="232257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Traitement excessif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51192" y="2542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Plus de soin que nécessaire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1546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04672" y="319125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Stocks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4672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Pièces qui dorment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14600" y="31546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1460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🚶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953512" y="319125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Mouvements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53512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Chercher outil, faire allers-retours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102352" y="319125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Défauts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02352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Refaire = double coût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12280" y="315468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1228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251192" y="319125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6A"/>
                </a:solidFill>
              </a:rPr>
              <a:t>Sous-utilisation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51192" y="34107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Idées ignorées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4681728"/>
            <a:ext cx="54864" cy="347472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6A"/>
                </a:solidFill>
              </a:rPr>
              <a:t>Identifier 3 gaspillages/jour × 5 personnes = 15/semaine → 600/an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2 · MÉTHODES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 — La roue de l'amélioration continue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W. Edwards Deming 1950 · Base du Kaizen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325880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Plan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Identifier · Fixer objectif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D4ED8"/>
                </a:solidFill>
              </a:rPr>
              <a:t>Chercher causes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87168" y="123444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27248" y="1325880"/>
            <a:ext cx="640080" cy="64008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3" name="Text 11"/>
          <p:cNvSpPr/>
          <p:nvPr/>
        </p:nvSpPr>
        <p:spPr>
          <a:xfrm>
            <a:off x="3127248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78608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Exécuter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Tester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23444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48656" y="1325880"/>
            <a:ext cx="640080" cy="64008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5248656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08576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</a:rPr>
              <a:t>Check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Évaluer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2400E"/>
                </a:solidFill>
              </a:rPr>
              <a:t>Mesurer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9984" y="1234440"/>
            <a:ext cx="1920240" cy="2468880"/>
          </a:xfrm>
          <a:prstGeom prst="roundRect">
            <a:avLst>
              <a:gd name="adj" fmla="val 3810"/>
            </a:avLst>
          </a:prstGeom>
          <a:solidFill>
            <a:srgbClr val="FEE2E2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325880"/>
            <a:ext cx="640080" cy="64008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3" name="Text 21"/>
          <p:cNvSpPr/>
          <p:nvPr/>
        </p:nvSpPr>
        <p:spPr>
          <a:xfrm>
            <a:off x="7370064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29984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Act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21424" y="23317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Capitaliser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Standardiser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58768"/>
            <a:ext cx="841248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858768"/>
            <a:ext cx="54864" cy="100584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6FA8"/>
                </a:solidFill>
              </a:rPr>
              <a:t>Application : Intervention pompe — P:4h→2h30 · D: Chariot + check-list · C:2h45 · A: Standardiser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2 · MÉTHODES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 — Pour les problèmes complexes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Bill Smith · Motorola 1986 · Six Sigma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572768" cy="2011680"/>
          </a:xfrm>
          <a:prstGeom prst="roundRect">
            <a:avLst>
              <a:gd name="adj" fmla="val 407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98448"/>
            <a:ext cx="640080" cy="6400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Définir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Problème défini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QQOQCCP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39112" y="1234440"/>
            <a:ext cx="1572768" cy="2011680"/>
          </a:xfrm>
          <a:prstGeom prst="roundRect">
            <a:avLst>
              <a:gd name="adj" fmla="val 4070"/>
            </a:avLst>
          </a:prstGeom>
          <a:solidFill>
            <a:srgbClr val="DCFCE7"/>
          </a:solidFill>
          <a:ln/>
        </p:spPr>
      </p:sp>
      <p:sp>
        <p:nvSpPr>
          <p:cNvPr id="12" name="Shape 10"/>
          <p:cNvSpPr/>
          <p:nvPr/>
        </p:nvSpPr>
        <p:spPr>
          <a:xfrm>
            <a:off x="2496312" y="1298448"/>
            <a:ext cx="640080" cy="640080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3" name="Text 11"/>
          <p:cNvSpPr/>
          <p:nvPr/>
        </p:nvSpPr>
        <p:spPr>
          <a:xfrm>
            <a:off x="2496312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39112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Mesurer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12264" y="224028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Données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6534"/>
                </a:solidFill>
              </a:rPr>
              <a:t>Baseline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58184" y="1234440"/>
            <a:ext cx="1572768" cy="2011680"/>
          </a:xfrm>
          <a:prstGeom prst="roundRect">
            <a:avLst>
              <a:gd name="adj" fmla="val 4070"/>
            </a:avLst>
          </a:prstGeom>
          <a:solidFill>
            <a:srgbClr val="FEF3C7"/>
          </a:solidFill>
          <a:ln/>
        </p:spPr>
      </p:sp>
      <p:sp>
        <p:nvSpPr>
          <p:cNvPr id="17" name="Shape 15"/>
          <p:cNvSpPr/>
          <p:nvPr/>
        </p:nvSpPr>
        <p:spPr>
          <a:xfrm>
            <a:off x="4215384" y="1298448"/>
            <a:ext cx="640080" cy="64008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8" name="Text 16"/>
          <p:cNvSpPr/>
          <p:nvPr/>
        </p:nvSpPr>
        <p:spPr>
          <a:xfrm>
            <a:off x="4215384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58184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</a:rPr>
              <a:t>Analyser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224028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Causes racines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5 Pourquoi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77256" y="1234440"/>
            <a:ext cx="1572768" cy="2011680"/>
          </a:xfrm>
          <a:prstGeom prst="roundRect">
            <a:avLst>
              <a:gd name="adj" fmla="val 4070"/>
            </a:avLst>
          </a:prstGeom>
          <a:solidFill>
            <a:srgbClr val="EDE9FE"/>
          </a:solidFill>
          <a:ln/>
        </p:spPr>
      </p:sp>
      <p:sp>
        <p:nvSpPr>
          <p:cNvPr id="22" name="Shape 20"/>
          <p:cNvSpPr/>
          <p:nvPr/>
        </p:nvSpPr>
        <p:spPr>
          <a:xfrm>
            <a:off x="5934456" y="1298448"/>
            <a:ext cx="640080" cy="64008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3" name="Text 21"/>
          <p:cNvSpPr/>
          <p:nvPr/>
        </p:nvSpPr>
        <p:spPr>
          <a:xfrm>
            <a:off x="5934456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77256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</a:rPr>
              <a:t>Améliorer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50408" y="224028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21B6"/>
                </a:solidFill>
              </a:rPr>
              <a:t>Solutions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21B6"/>
                </a:solidFill>
              </a:rPr>
              <a:t>Brainstorming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96328" y="1234440"/>
            <a:ext cx="1572768" cy="2011680"/>
          </a:xfrm>
          <a:prstGeom prst="roundRect">
            <a:avLst>
              <a:gd name="adj" fmla="val 4070"/>
            </a:avLst>
          </a:prstGeom>
          <a:solidFill>
            <a:srgbClr val="FEE2E2"/>
          </a:solidFill>
          <a:ln/>
        </p:spPr>
      </p:sp>
      <p:sp>
        <p:nvSpPr>
          <p:cNvPr id="27" name="Shape 25"/>
          <p:cNvSpPr/>
          <p:nvPr/>
        </p:nvSpPr>
        <p:spPr>
          <a:xfrm>
            <a:off x="7653528" y="1298448"/>
            <a:ext cx="640080" cy="640080"/>
          </a:xfrm>
          <a:prstGeom prst="ellipse">
            <a:avLst/>
          </a:prstGeom>
          <a:solidFill>
            <a:srgbClr val="991B1B"/>
          </a:solidFill>
          <a:ln/>
        </p:spPr>
      </p:sp>
      <p:sp>
        <p:nvSpPr>
          <p:cNvPr id="28" name="Text 26"/>
          <p:cNvSpPr/>
          <p:nvPr/>
        </p:nvSpPr>
        <p:spPr>
          <a:xfrm>
            <a:off x="7653528" y="12984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96328" y="196596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Contrôler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2240280"/>
            <a:ext cx="1435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Pérenniser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</a:rPr>
              <a:t>Standards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383280"/>
            <a:ext cx="4023360" cy="8686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A8"/>
                </a:solidFill>
              </a:rPr>
              <a:t>PDCA : Quotidien · 1 semaine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657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Données simples · Cycle court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383280"/>
            <a:ext cx="4206240" cy="8686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4290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DMAIC : Projet · 1-3 mois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3657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Données rigoureuses · Chef de projet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407408"/>
            <a:ext cx="84124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4407408"/>
            <a:ext cx="54864" cy="4114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" y="4453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Commencez par PDCA → passez à DMAIC si le problème résiste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2 · MÉTHODES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 — Résolution en équipe pour incidents graves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Ford Motor Company 1987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011680" cy="960120"/>
          </a:xfrm>
          <a:prstGeom prst="rect">
            <a:avLst/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572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" y="12893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28930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2893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Équipe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Groupe multidisciplinaire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011680" cy="960120"/>
          </a:xfrm>
          <a:prstGeom prst="rect">
            <a:avLst/>
          </a:prstGeom>
          <a:solidFill>
            <a:srgbClr val="DBEAFE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34440"/>
            <a:ext cx="45720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2624328" y="12893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624328" y="128930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63240" y="12893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Définir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24328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Description précise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2011680" cy="960120"/>
          </a:xfrm>
          <a:prstGeom prst="rect">
            <a:avLst/>
          </a:prstGeom>
          <a:solidFill>
            <a:srgbClr val="DCFCE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234440"/>
            <a:ext cx="45720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0" name="Shape 18"/>
          <p:cNvSpPr/>
          <p:nvPr/>
        </p:nvSpPr>
        <p:spPr>
          <a:xfrm>
            <a:off x="4773168" y="12893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128930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12893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Action immédiate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Stopper l'hémorragie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234440"/>
            <a:ext cx="2011680" cy="960120"/>
          </a:xfrm>
          <a:prstGeom prst="rect">
            <a:avLst/>
          </a:prstGeom>
          <a:solidFill>
            <a:srgbClr val="DCFCE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234440"/>
            <a:ext cx="45720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Shape 24"/>
          <p:cNvSpPr/>
          <p:nvPr/>
        </p:nvSpPr>
        <p:spPr>
          <a:xfrm>
            <a:off x="6922008" y="128930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6922008" y="128930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60920" y="128930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Causes racines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22008" y="158191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5 Pourquoi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331720"/>
            <a:ext cx="2011680" cy="96012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331720"/>
            <a:ext cx="4572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475488" y="238658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" y="238658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23865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Solutions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Impact vs faisabilité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14600" y="2331720"/>
            <a:ext cx="2011680" cy="96012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14600" y="2331720"/>
            <a:ext cx="4572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2624328" y="238658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2624328" y="238658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63240" y="23865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Implémenter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24328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Plan · Responsables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331720"/>
            <a:ext cx="2011680" cy="960120"/>
          </a:xfrm>
          <a:prstGeom prst="rect">
            <a:avLst/>
          </a:prstGeom>
          <a:solidFill>
            <a:srgbClr val="FEE2E2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331720"/>
            <a:ext cx="45720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Shape 42"/>
          <p:cNvSpPr/>
          <p:nvPr/>
        </p:nvSpPr>
        <p:spPr>
          <a:xfrm>
            <a:off x="4773168" y="238658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4773168" y="238658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12080" y="23865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Préventives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Empêcher récurrence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12280" y="2331720"/>
            <a:ext cx="2011680" cy="960120"/>
          </a:xfrm>
          <a:prstGeom prst="rect">
            <a:avLst/>
          </a:prstGeom>
          <a:solidFill>
            <a:srgbClr val="EDE9FE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2280" y="2331720"/>
            <a:ext cx="45720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Shape 48"/>
          <p:cNvSpPr/>
          <p:nvPr/>
        </p:nvSpPr>
        <p:spPr>
          <a:xfrm>
            <a:off x="6922008" y="238658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51" name="Text 49"/>
          <p:cNvSpPr/>
          <p:nvPr/>
        </p:nvSpPr>
        <p:spPr>
          <a:xfrm>
            <a:off x="6922008" y="2386584"/>
            <a:ext cx="3840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60920" y="2386584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Féliciter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22008" y="2679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Capitaliser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407408"/>
            <a:ext cx="841248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4407408"/>
            <a:ext cx="54864" cy="411480"/>
          </a:xfrm>
          <a:prstGeom prst="rect">
            <a:avLst/>
          </a:prstGeom>
          <a:solidFill>
            <a:srgbClr val="1E6FA8"/>
          </a:solidFill>
          <a:ln/>
        </p:spPr>
      </p:sp>
      <p:sp>
        <p:nvSpPr>
          <p:cNvPr id="56" name="Text 54"/>
          <p:cNvSpPr/>
          <p:nvPr/>
        </p:nvSpPr>
        <p:spPr>
          <a:xfrm>
            <a:off x="512064" y="4453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</a:rPr>
              <a:t>Quand : Incident grave · récurrent · Durée : 3 jours à 2 semaines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QQOQCCP — Comprendre avant d'agir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Méthode journalistique · Phase Définir · 30 minutes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029968" cy="1188720"/>
          </a:xfrm>
          <a:prstGeom prst="roundRect">
            <a:avLst>
              <a:gd name="adj" fmla="val 5385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32588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Qui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Technicien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32888" y="1234440"/>
            <a:ext cx="2029968" cy="1188720"/>
          </a:xfrm>
          <a:prstGeom prst="roundRect">
            <a:avLst>
              <a:gd name="adj" fmla="val 5385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35808" y="132588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Quoi 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4328" y="173736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Arrêt pompe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0016" y="1234440"/>
            <a:ext cx="2029968" cy="1188720"/>
          </a:xfrm>
          <a:prstGeom prst="roundRect">
            <a:avLst>
              <a:gd name="adj" fmla="val 5385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4773168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4773168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02936" y="132588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Où 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91456" y="173736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Ligne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67144" y="1234440"/>
            <a:ext cx="2029968" cy="1188720"/>
          </a:xfrm>
          <a:prstGeom prst="roundRect">
            <a:avLst>
              <a:gd name="adj" fmla="val 5385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0296" y="1307592"/>
            <a:ext cx="365760" cy="36576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0296" y="1307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70064" y="1325880"/>
            <a:ext cx="1435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Quand 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58584" y="1737360"/>
            <a:ext cx="18653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Lundis matin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560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DCFCE7"/>
          </a:solidFill>
          <a:ln/>
        </p:spPr>
      </p:sp>
      <p:sp>
        <p:nvSpPr>
          <p:cNvPr id="27" name="Shape 25"/>
          <p:cNvSpPr/>
          <p:nvPr/>
        </p:nvSpPr>
        <p:spPr>
          <a:xfrm>
            <a:off x="438912" y="263347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Comment 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063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Vibrations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2560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DCFCE7"/>
          </a:solidFill>
          <a:ln/>
        </p:spPr>
      </p:sp>
      <p:sp>
        <p:nvSpPr>
          <p:cNvPr id="32" name="Shape 30"/>
          <p:cNvSpPr/>
          <p:nvPr/>
        </p:nvSpPr>
        <p:spPr>
          <a:xfrm>
            <a:off x="3273552" y="2633472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3273552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Combien 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91840" y="3063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3h · 12/mois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2560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EE2E2"/>
          </a:solidFill>
          <a:ln/>
        </p:spPr>
      </p:sp>
      <p:sp>
        <p:nvSpPr>
          <p:cNvPr id="37" name="Shape 35"/>
          <p:cNvSpPr/>
          <p:nvPr/>
        </p:nvSpPr>
        <p:spPr>
          <a:xfrm>
            <a:off x="6108192" y="2633472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108192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37960" y="2651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Pourquoi ?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06324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Perte production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Pourquoi — Trouver la cause racine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Taiichi Ohno · Toyota 1950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" y="2121408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800100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8562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+2h 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856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Intervention 2h de plus que prévu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" y="2642616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350008"/>
            <a:ext cx="800100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pas dispo 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Pièce de rechange non disponible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" y="3163824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2871216"/>
            <a:ext cx="800100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2898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pas stock 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2898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Pas de seuil d'alerte défini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92424"/>
            <a:ext cx="292608" cy="292608"/>
          </a:xfrm>
          <a:prstGeom prst="ellipse">
            <a:avLst/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392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" y="3685032"/>
            <a:ext cx="91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CA5A5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3392424"/>
            <a:ext cx="800100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41985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Pourquoi pas seuil 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0" y="34198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Pas de responsable stock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13632"/>
            <a:ext cx="292608" cy="29260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13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77240" y="3913632"/>
            <a:ext cx="800100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39410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CAUSE RACINE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3941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→  Pas de politique gestion pièces critiques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498848"/>
            <a:ext cx="8412480" cy="347472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Shape 34"/>
          <p:cNvSpPr/>
          <p:nvPr/>
        </p:nvSpPr>
        <p:spPr>
          <a:xfrm>
            <a:off x="365760" y="4498848"/>
            <a:ext cx="54864" cy="34747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" y="45262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Solution : Définir stock minimum pièces critiques → -50% temps d'attente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— Réduire les temps de changement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Single Minute Exchange of Die · Shigeo Shingo 1950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84632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</a:rPr>
              <a:t>LE PRINCIPE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663440" cy="777240"/>
          </a:xfrm>
          <a:prstGeom prst="rect">
            <a:avLst/>
          </a:prstGeom>
          <a:solidFill>
            <a:srgbClr val="FEE2E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6420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642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INTERNE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54480" y="16550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Machine ARRÊTÉE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Démonter · Nettoyer · Installer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6A"/>
                </a:solidFill>
              </a:rPr>
              <a:t>↓  Transformer en EXTERNE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663440" cy="777240"/>
          </a:xfrm>
          <a:prstGeom prst="rect">
            <a:avLst/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07208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072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EXTERNE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54480" y="27980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Machine EN MARCHE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30632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Préparer · Préchauffer · À portée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53619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7A6A"/>
                </a:solidFill>
              </a:rPr>
              <a:t>Résultat : 3h → 1h20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309360" y="228600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2286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-55%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— Générer des solutions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Alex Osborn 1941 · 4 formats adaptés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1371600"/>
          </a:xfrm>
          <a:prstGeom prst="rect">
            <a:avLst/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256032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CLASSIQUE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" y="1545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</a:rPr>
              <a:t>6-10 pers · 20-40 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783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Groupe · Animateur · Idées libres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STAND-UP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18304" y="1545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66360" y="155448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5-8 pers · 10-15 min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17830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Debout · Rapide · Focus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411480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743200"/>
            <a:ext cx="4114800" cy="25603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2743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BRAIN WRITING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30632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6 pers · 30 min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68680" y="3291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Écrit · 6×3×5 = 100 idées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411480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743200"/>
            <a:ext cx="411480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27432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SOLO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18304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66360" y="306324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1 pers · 15 min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291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Seul · Noter TOUS gaspillages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PARTIE 3 · OUTILS 2ÈME GÉNÉRATION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· Management Visuel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Outils avancés pour ancrer le Lean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30175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25603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5G — Les 5 Gemba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591056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5727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Gemba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7647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Aller terrain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0025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Gembutsu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1945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Observer objet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450592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24323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Genjitsu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6243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Faits réels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880360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28620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Genri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30540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Théorie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310128"/>
            <a:ext cx="201168" cy="201168"/>
          </a:xfrm>
          <a:prstGeom prst="ellipse">
            <a:avLst/>
          </a:prstGeom>
          <a:solidFill>
            <a:srgbClr val="0B7A6A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32918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Genba Walk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3483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 min/jour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114800" cy="301752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234440"/>
            <a:ext cx="411480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718304" y="12344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Management Visuel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8304" y="15544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Rendre l'info visible et immédiate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18304" y="1920240"/>
            <a:ext cx="347472" cy="347472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19202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VERT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2121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Objectif atteint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256032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560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ORANGE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7614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Attention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18304" y="3200400"/>
            <a:ext cx="347472" cy="34747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166360" y="32004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ROUGE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34015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Action immédiate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VOTRE RÔLE DE RESPONSABLE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attend de vous — concrètement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Votre rôle : exiger, accompagner — pas tout faire seul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2834640"/>
          </a:xfrm>
          <a:prstGeom prst="rect">
            <a:avLst/>
          </a:prstGeom>
          <a:solidFill>
            <a:srgbClr val="EFF6FF"/>
          </a:solidFill>
          <a:ln w="19050">
            <a:solidFill>
              <a:srgbClr val="1E6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CE QUE VOUS FAITES — chaque semaine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6916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6733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Gemba Walk 15 min/jour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39112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0391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0208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Exiger QQOQCCP + 5 Pourquoi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386584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865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3682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Valider 1 KAIZEN/semaine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34056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73405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7157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Afficher tableau de bord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81528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0815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0632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Appliquer PDCA sur récurrents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34440"/>
            <a:ext cx="4114800" cy="2834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234440"/>
            <a:ext cx="4114800" cy="320040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CE QUE VOUS EXIGEZ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691640"/>
            <a:ext cx="38862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✅ Identifier 3 gaspillages/jour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103120"/>
            <a:ext cx="38862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130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✅ Proposer 1 solution/pb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514600"/>
            <a:ext cx="3886200" cy="34747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✅ Suivre les standards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3886200" cy="34747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953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❌ Accepter 'c'est comme ça'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337560"/>
            <a:ext cx="3886200" cy="347472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❌ Remettre à plus tard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PLAN D'ACTION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éliminer 15 gaspillages par semaine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Plan concret · Outils · Gains réels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LES 5 ÉTAPES — DÈS LUNDI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16002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44752"/>
            <a:ext cx="1600200" cy="3474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Lun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847088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5G · Gemba Walk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2240280"/>
            <a:ext cx="14904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15 min terrain · noter 3 gaspillages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160020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" y="3456432"/>
            <a:ext cx="1527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3 MUDA identifiés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84832" y="1444752"/>
            <a:ext cx="16002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84832" y="1444752"/>
            <a:ext cx="1600200" cy="3474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9696" y="1847088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QQOQCCP + 5 Pourquoi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9696" y="2240280"/>
            <a:ext cx="14904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30 min · Cause racine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84832" y="3429000"/>
            <a:ext cx="160020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2121408" y="3456432"/>
            <a:ext cx="1527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1 cause résolue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03904" y="1444752"/>
            <a:ext cx="16002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03904" y="1444752"/>
            <a:ext cx="1600200" cy="3474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23" name="Text 21"/>
          <p:cNvSpPr/>
          <p:nvPr/>
        </p:nvSpPr>
        <p:spPr>
          <a:xfrm>
            <a:off x="3803904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58768" y="1847088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Brainstorming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58768" y="2240280"/>
            <a:ext cx="14904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10 min · Proposer solutions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03904" y="3429000"/>
            <a:ext cx="1600200" cy="5029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3456432"/>
            <a:ext cx="1527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</a:rPr>
              <a:t>1 solution testée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22976" y="1444752"/>
            <a:ext cx="16002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22976" y="1444752"/>
            <a:ext cx="1600200" cy="3474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0" name="Text 28"/>
          <p:cNvSpPr/>
          <p:nvPr/>
        </p:nvSpPr>
        <p:spPr>
          <a:xfrm>
            <a:off x="5522976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Jeu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77840" y="1847088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PDCA — Do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2240280"/>
            <a:ext cx="14904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Tester solution · Mesurer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22976" y="3429000"/>
            <a:ext cx="160020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5559552" y="3456432"/>
            <a:ext cx="1527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Résultat mesuré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42048" y="1444752"/>
            <a:ext cx="1600200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42048" y="1444752"/>
            <a:ext cx="1600200" cy="347472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37" name="Text 35"/>
          <p:cNvSpPr/>
          <p:nvPr/>
        </p:nvSpPr>
        <p:spPr>
          <a:xfrm>
            <a:off x="7242048" y="1444752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1847088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Mgmt Visuel + Act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96912" y="2240280"/>
            <a:ext cx="14904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Standardiser · Partager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2048" y="3429000"/>
            <a:ext cx="160020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1" name="Text 39"/>
          <p:cNvSpPr/>
          <p:nvPr/>
        </p:nvSpPr>
        <p:spPr>
          <a:xfrm>
            <a:off x="7278624" y="3456432"/>
            <a:ext cx="15270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Standard établi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solidFill>
            <a:srgbClr val="0F2D4A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105656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semaine = 15 MUDA × 50 sem = 750/an → équivalent 3-5 semaines de travail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gagnez réellement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Résultats mesurés sur le terrain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07008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82F6"/>
                </a:solidFill>
              </a:rPr>
              <a:t>-40%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892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Problèmes récurrents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316736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En 6 mois avec PDCA + 5P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0700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07008"/>
            <a:ext cx="54864" cy="1234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9844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</a:rPr>
              <a:t>+2h/j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Valeur ajoutée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316736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Par personne · Sans recruter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2432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624328"/>
            <a:ext cx="54864" cy="1234440"/>
          </a:xfrm>
          <a:prstGeom prst="rect">
            <a:avLst/>
          </a:prstGeom>
          <a:solidFill>
            <a:srgbClr val="0B7A6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1576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7A6A"/>
                </a:solidFill>
              </a:rPr>
              <a:t>-55%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Temps de changement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734056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Avec SMED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62432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2624328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715768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0 Dh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846320" y="3310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D'investissement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734056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Pour commencer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0F2D4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3C5FD"/>
                </a:solidFill>
              </a:rPr>
              <a:t>"Commencez petit, commencez maintenant, capitalisez toujours."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Votre équipe vous attend. Les outils sont prêts. La première amélioration, c'est cette semaine.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Thinking &amp; Amélioration Continue</dc:title>
  <dc:subject>PptxGenJS Presentation</dc:subject>
  <dc:creator>Formation KAIZEN</dc:creator>
  <cp:lastModifiedBy>Formation KAIZEN</cp:lastModifiedBy>
  <cp:revision>1</cp:revision>
  <dcterms:created xsi:type="dcterms:W3CDTF">2026-05-08T22:36:13Z</dcterms:created>
  <dcterms:modified xsi:type="dcterms:W3CDTF">2026-05-08T22:36:13Z</dcterms:modified>
</cp:coreProperties>
</file>