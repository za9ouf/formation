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LEAN MAINTENANCE &amp;</a:t>
            </a: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AMELIORATION CONTINUE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</a:defRPr>
            </a:pPr>
            <a:r>
              <a:t>Formation KAIZEN - Direction Maintenance OCP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93C5FD"/>
                </a:solidFill>
              </a:defRPr>
            </a:pPr>
            <a:r>
              <a:t>Du travail par experience a l'excellence structuree - 0 Dh d'investissement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Chaque jour, votre equipe cache un potentiel enorme. Des heures perdues. Des frustrations tues.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2560320" cy="1371600"/>
          </a:xfrm>
          <a:prstGeom prst="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</a:defRPr>
            </a:pPr>
            <a:r>
              <a:t>-40%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3C5FD"/>
                </a:solidFill>
              </a:defRPr>
            </a:pPr>
            <a:r>
              <a:t>Pannes recurrentes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840480"/>
            <a:ext cx="2560320" cy="1371600"/>
          </a:xfrm>
          <a:prstGeom prst="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4023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</a:defRPr>
            </a:pPr>
            <a:r>
              <a:t>+2h/j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572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3C5FD"/>
                </a:solidFill>
              </a:defRPr>
            </a:pPr>
            <a:r>
              <a:t>Disponibilite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840480"/>
            <a:ext cx="2560320" cy="1371600"/>
          </a:xfrm>
          <a:prstGeom prst="rect">
            <a:avLst/>
          </a:prstGeom>
          <a:solidFill>
            <a:srgbClr val="16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023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</a:defRPr>
            </a:pPr>
            <a:r>
              <a:t>0 Dh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57200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3C5FD"/>
                </a:solidFill>
              </a:defRPr>
            </a:pPr>
            <a:r>
              <a:t>Investissement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Ce n'est pas une question de budget. C'est une question de regard.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INTRODUCTION - HISTORIQUE LEAN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3C5FD"/>
                </a:solidFill>
              </a:defRPr>
            </a:pPr>
            <a:r>
              <a:t>50 ans d'excellence industrielle - Une methode eprouvee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0A5FA"/>
                </a:solidFill>
              </a:defRPr>
            </a:pPr>
            <a:r>
              <a:t>1950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5087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Toyota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63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TPS - Taiichi Ohno - Systeme de production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0A5FA"/>
                </a:solidFill>
              </a:defRPr>
            </a:pPr>
            <a:r>
              <a:t>1970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317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Japon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2860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KAIZEN - Masaaki Imai - Amelioration continue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0A5FA"/>
                </a:solidFill>
              </a:defRPr>
            </a:pPr>
            <a:r>
              <a:t>1986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154679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USA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1089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Lean Thinking - Womack &amp; Jones - 5 principes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31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0A5FA"/>
                </a:solidFill>
              </a:defRPr>
            </a:pPr>
            <a:r>
              <a:t>1990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977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Monde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931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Six Sigma - Motorola - DMAIC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7680960" cy="64008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0A5FA"/>
                </a:solidFill>
              </a:defRPr>
            </a:pPr>
            <a:r>
              <a:t>2000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006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Industrie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7548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Lean 4.0 - Digitalisation + Lean +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Les meilleures entreprises industrielles utilisent ces methodes depuis 50 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1 - LEAN THINKING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3C5FD"/>
                </a:solidFill>
              </a:defRPr>
            </a:pPr>
            <a:r>
              <a:t>KAIZEN vs KAIKAKU - Deux voies vers l'amelioration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657600" cy="2926080"/>
          </a:xfrm>
          <a:prstGeom prst="rect">
            <a:avLst/>
          </a:prstGeom>
          <a:solidFill>
            <a:srgbClr val="162B42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0A5FA"/>
                </a:solidFill>
              </a:defRPr>
            </a:pPr>
            <a:r>
              <a:t>KAIZEN - Amelioration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Petites etapes - Quotidien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Toute l'equipe participe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Sans investissement</a:t>
            </a:r>
          </a:p>
          <a:p>
            <a:pPr>
              <a:defRPr sz="800"/>
            </a:pPr>
          </a:p>
          <a:p>
            <a:pPr>
              <a:defRPr sz="1400" b="1">
                <a:solidFill>
                  <a:srgbClr val="60A5FA"/>
                </a:solidFill>
              </a:defRPr>
            </a:pPr>
            <a:r>
              <a:t>1% x 365 jours = 37x mieux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3657600" cy="2926080"/>
          </a:xfrm>
          <a:prstGeom prst="rect">
            <a:avLst/>
          </a:prstGeom>
          <a:solidFill>
            <a:srgbClr val="2D1414"/>
          </a:solidFill>
          <a:ln w="381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B923C"/>
                </a:solidFill>
              </a:defRPr>
            </a:pPr>
            <a:r>
              <a:t>KAIKAKU - Amelioration Radicale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Grand changement - Ponctuel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Experts / Consultants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Investissement lourd</a:t>
            </a:r>
          </a:p>
          <a:p>
            <a:pPr>
              <a:defRPr sz="800"/>
            </a:pPr>
          </a:p>
          <a:p>
            <a:pPr>
              <a:defRPr sz="1400" b="1">
                <a:solidFill>
                  <a:srgbClr val="FB923C"/>
                </a:solidFill>
              </a:defRPr>
            </a:pPr>
            <a:r>
              <a:t>Nouvel equipement = 1M Dh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560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NOTRE APPROCHE : KAIZEN - Petites victoires quotidiennes = Grands resultats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C8C8"/>
                </a:solidFill>
              </a:defRPr>
            </a:pPr>
            <a:r>
              <a:t>Exemple : Chariot outillage mobile (-15 min/intervention) vs Remplacement concasseur (6 mois + 2M Dh)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1 - VALEUR AJOUTEE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3C5FD"/>
                </a:solidFill>
              </a:defRPr>
            </a:pPr>
            <a:r>
              <a:t>Ce que le client paie - et ce qu'il ne paie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28600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VA - 30%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Valeur Ajoutee - Ce que le client PAIE (reparation, diagnostic)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286000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NVA - 25%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Non-VA Necessaire - Obligatoire (securite, admin, EPI)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91840"/>
            <a:ext cx="2286000" cy="640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GASPILLAGE - 45%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83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NVA Supprimable - Pur gaspillage a ELIMINER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INTERVENTION MAINTENANCE - Exemple Concasseur (8h)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C55E"/>
                </a:solidFill>
              </a:defRPr>
            </a:pPr>
            <a:r>
              <a:t>VA (2.5h) : Diagnostic + Reparation + Test</a:t>
            </a:r>
          </a:p>
          <a:p>
            <a:pPr>
              <a:defRPr sz="1100">
                <a:solidFill>
                  <a:srgbClr val="FB923C"/>
                </a:solidFill>
              </a:defRPr>
            </a:pPr>
            <a:r>
              <a:t>NVA Necessaire (1.5h) : Consignation + EPI + Permis feu</a:t>
            </a:r>
          </a:p>
          <a:p>
            <a:pPr>
              <a:defRPr sz="1100">
                <a:solidFill>
                  <a:srgbClr val="EF4444"/>
                </a:solidFill>
              </a:defRPr>
            </a:pPr>
            <a:r>
              <a:t>Gaspillage (4h) : Chercher piece + Attendre + Papier inutile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A5FA"/>
                </a:solidFill>
              </a:defRPr>
            </a:pPr>
            <a:r>
              <a:t>REDUIRE LE GASPILLAGE DE 45% A 20% = +2h/personne/jour = 25% DE CAPACITE SUPPLEMENTAIRE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1 - LES 7 MUDA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3C5FD"/>
                </a:solidFill>
              </a:defRPr>
            </a:pPr>
            <a:r>
              <a:t>MUDA = Gaspillage - Les 7 gaspillages a eliminer en maintenance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1. SURPRODUCTION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Rapports non lus, Stocks pieces excessifs, Double saisie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768096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2. ATTENTE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488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Technicien attend piece, Attente autorisation, Attente equipement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3.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346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Pieces stock loin, Allers-retours magasin, Deplacements inutiles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768096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4. TRAITEMENT EXCESSIF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520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Rapports trop detailles, 3 validations, Reunions sans fin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5. STOCKS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206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Pieces qui dorment, Obsolescence, Sur-stockage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00600"/>
            <a:ext cx="768096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6. MOUVEMENTS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892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Chercher outillage, Mauvaise ergonomie, Allers-retours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486400"/>
            <a:ext cx="768096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7. DEFAUTS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5778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Reprise - Retouche, Mauvais diagnostic, Re-reparation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217920"/>
            <a:ext cx="7680960" cy="365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3093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8eme MUDA : TALENT IGNORE - Ne pas ecouter ceux qui font le travail = gaspiller leur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2 - DEMARCHES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3C5FD"/>
                </a:solidFill>
              </a:defRPr>
            </a:pPr>
            <a:r>
              <a:t>PDCA - La roue de l'amelioration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C8C8"/>
                </a:solidFill>
              </a:defRPr>
            </a:pPr>
            <a:r>
              <a:t>W. Edwards Deming - 1950 - Cycle d'amelioration quotidienne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840480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Definir l'objectif, Analyser les causes, Planifier l'action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645920"/>
            <a:ext cx="3840480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83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828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Tester la solution, Perimetre limite, Mesurer en continu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3840480" cy="16459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118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57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Mesurer les resultats, Analyser les ecarts, Valider l'efficacite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474720"/>
            <a:ext cx="3840480" cy="16459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36118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6576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23359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Standardiser, Capitaliser, Etendre aux autres equipes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949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C8C8"/>
                </a:solidFill>
              </a:defRPr>
            </a:pPr>
            <a:r>
              <a:t>EXEMPLE : Arret concasseur 4h/semaine -&gt; P: Objectif 1h + Causes: capteur HS + delai pieces -&gt; D: Test nouveau capteur -&gt; C: Resultat 0.8h -&gt; A: Standard sur tous concasseurs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2 - DEMARCHES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3C5FD"/>
                </a:solidFill>
              </a:defRPr>
            </a:pPr>
            <a:r>
              <a:t>DMAIC - Pour problemes complexes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C8C8"/>
                </a:solidFill>
              </a:defRPr>
            </a:pPr>
            <a:r>
              <a:t>Six Sigma - Motorola 1986 - Projets complexes 1-3 mois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DEFINIR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373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Charte projet, QQOQCCP, Scope + Objectifs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14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MESURER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514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Collecter donnees, Baseline, Indicateurs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8046720" cy="64008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9184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ANALYSER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291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5 Pourquoi, Ishikawa, Donnees statistiques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77639"/>
            <a:ext cx="8046720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69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6907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IMPROVE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06907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Generer solutions, Pilotes, Test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54879"/>
            <a:ext cx="8046720" cy="6400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4631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4631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8463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Standardiser, Suivi KPI,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C8C8"/>
                </a:solidFill>
              </a:defRPr>
            </a:pPr>
            <a:r>
              <a:t>UTILISATION : Probleme complexe avec donnees disponibles - Impact financier eleve - Plusieurs equipes concernees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2 - DEMARCHES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3C5FD"/>
                </a:solidFill>
              </a:defRPr>
            </a:pPr>
            <a:r>
              <a:t>8D - Resolution d'incidents graves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C8C8"/>
                </a:solidFill>
              </a:defRPr>
            </a:pPr>
            <a:r>
              <a:t>Ford Motor Company - 1987 - Incident grave ou critique - 3 jours a 2 semaines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9319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2763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276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Équipe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7451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Multidisciplinaire - Meca + Elec + Prod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9319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2763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Definir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87451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Description precise - QQOQCCP complet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393192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5915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591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Action immediate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06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Stopper l'hemorragie - Mesure conservatoire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2286000"/>
            <a:ext cx="3931920" cy="594360"/>
          </a:xfrm>
          <a:prstGeom prst="rect">
            <a:avLst/>
          </a:prstGeom>
          <a:solidFill>
            <a:srgbClr val="162B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35915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3591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Causes racines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606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5 Pourquoi + Ishikawa - Preuves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017520"/>
            <a:ext cx="3931920" cy="594360"/>
          </a:xfrm>
          <a:prstGeom prst="rect">
            <a:avLst/>
          </a:prstGeom>
          <a:solidFill>
            <a:srgbClr val="162B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906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09067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Solutions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37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Impact vs Faisabilite - Permanent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017520"/>
            <a:ext cx="3931920" cy="594360"/>
          </a:xfrm>
          <a:prstGeom prst="rect">
            <a:avLst/>
          </a:prstGeom>
          <a:solidFill>
            <a:srgbClr val="162B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090672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309067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Implementer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3375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Plan + Responsables - Delais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49039"/>
            <a:ext cx="3931920" cy="594360"/>
          </a:xfrm>
          <a:prstGeom prst="rect">
            <a:avLst/>
          </a:prstGeom>
          <a:solidFill>
            <a:srgbClr val="162B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22191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822191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Preventives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06907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Empecher recurrence - Autres equipements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749039"/>
            <a:ext cx="3931920" cy="594360"/>
          </a:xfrm>
          <a:prstGeom prst="rect">
            <a:avLst/>
          </a:prstGeom>
          <a:solidFill>
            <a:srgbClr val="162B4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822191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D8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822191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Capitaliser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406907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C8C8C8"/>
                </a:solidFill>
              </a:defRPr>
            </a:pPr>
            <a:r>
              <a:t>Partager lecons - Base de connaissances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634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923C"/>
                </a:solidFill>
              </a:defRPr>
            </a:pPr>
            <a:r>
              <a:t>EXEMPLE OCP - Courroie transporteur rompue 3x en 1 mois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120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C8C8C8"/>
                </a:solidFill>
              </a:defRPr>
            </a:pPr>
            <a:r>
              <a:t>D1: Equipe meca+elec+prod | D2: Courroie BW2 rompue | D3: Installation temporaire | D4: Tension excessive + qualite courroie | D5-D7: Nouveau type + plan maintenance | D8: Standard tous transporteurs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3 - OUTILS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3C5FD"/>
                </a:solidFill>
              </a:defRPr>
            </a:pPr>
            <a:r>
              <a:t>QQOQCCP - Comprendre avant d'agir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C8C8"/>
                </a:solidFill>
              </a:defRPr>
            </a:pPr>
            <a:r>
              <a:t>Methode journalistique - 30 minutes - Pour bien definir un probleme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9144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</a:t>
            </a:r>
            <a:br/>
            <a:r>
              <a:t>Qui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Equipe A - Shift matin - Technicien: M. Benali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9144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</a:t>
            </a:r>
            <a:br/>
            <a:r>
              <a:t>Quoi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48839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Vibration anormale broyeur - Bruit inhabituel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9144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O</a:t>
            </a:r>
            <a:br/>
            <a:r>
              <a:t>Où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97479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Broyeur BK3 - Palier 2 - Cote moteur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00400"/>
            <a:ext cx="9144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Q</a:t>
            </a:r>
            <a:br/>
            <a:r>
              <a:t>Quand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246120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Demarrage production - 6h du matin - Depuis 3 jours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9144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4047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</a:t>
            </a:r>
            <a:br/>
            <a:r>
              <a:t>Comment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794759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Vibration 12mm/s - Alarme rouge - Temperature +15C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97679"/>
            <a:ext cx="9144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38911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</a:t>
            </a:r>
            <a:br/>
            <a:r>
              <a:t>Combien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343399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3x/semaine - -2h/arret - -500t production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46319"/>
            <a:ext cx="914400" cy="4572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5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P</a:t>
            </a:r>
            <a:br/>
            <a:r>
              <a:t>Pourquoi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892039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Perte production 500t/an - Risque casseur - Cout 20k Dh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864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RESULTAT : Probleme bien defini = Solution adaptee = Plus de recurrence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3 - OUTILS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3C5FD"/>
                </a:solidFill>
              </a:defRPr>
            </a:pPr>
            <a:r>
              <a:t>5 POURQUOI - Trouver la cause racine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C8C8"/>
                </a:solidFill>
              </a:defRPr>
            </a:pPr>
            <a:r>
              <a:t>Taiichi Ohno - Toyota 1950 - 15 minutes - Permet de descendre a la racine du probleme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PROBLEME : Moteur convoyeur L4 en panne -&gt; Arret ligne 4h - Perte 40t - Cout 8k Dh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3C5FD"/>
                </a:solidFill>
              </a:defRPr>
            </a:pPr>
            <a:r>
              <a:t>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1. Pourquoi panne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148839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-&gt; Surchauffe moteur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146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3C5FD"/>
                </a:solidFill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2. Pourquoi surchauffe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6032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-&gt; Ventilation encrassee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26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3C5FD"/>
                </a:solidFill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3. Pourquoi encrassee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97180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-&gt; Filtre absent depuis 3 mois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3375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3C5FD"/>
                </a:solidFill>
              </a:defRPr>
            </a:pPr>
            <a: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4. Pourquoi absent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38328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C8C8"/>
                </a:solidFill>
              </a:defRPr>
            </a:pPr>
            <a:r>
              <a:t>-&gt; Pas de plan maintenance preventive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49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3C5FD"/>
                </a:solidFill>
              </a:defRPr>
            </a:pPr>
            <a: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5. CAUSE RACINE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7947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22C55E"/>
                </a:solidFill>
              </a:defRPr>
            </a:pPr>
            <a:r>
              <a:t>-&gt; Systeme de gestion MP inexistant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8046720" cy="1005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SOLUTION + RESULTAT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SOLUTION : Implementer plan MP - GEMBA mensuel - Check-liste ventilation</a:t>
            </a:r>
          </a:p>
          <a:p>
            <a:pPr>
              <a:defRPr sz="1000">
                <a:solidFill>
                  <a:srgbClr val="C8FFC8"/>
                </a:solidFill>
              </a:defRPr>
            </a:pPr>
            <a:r>
              <a:t>RESULTAT : 0 panne ventilation en 6 mois - Gain 24h/an - Economie 12k Dh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3 - OUTILS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3C5FD"/>
                </a:solidFill>
              </a:defRPr>
            </a:pPr>
            <a:r>
              <a:t>SMED - Reduire temps de changement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C8C8"/>
                </a:solidFill>
              </a:defRPr>
            </a:pPr>
            <a:r>
              <a:t>Single Minute Exchange of Die - Shigeo Shingo 1950 - Projet 1 mois - -50% temps changement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657600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INTERNE (machine arretee)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Demontage</a:t>
            </a:r>
            <a:br/>
            <a:r>
              <a:t>• Nettoyage</a:t>
            </a:r>
            <a:br/>
            <a:r>
              <a:t>• Installation</a:t>
            </a:r>
            <a:br/>
            <a:r>
              <a:t>• Alignement</a:t>
            </a:r>
            <a:br/>
            <a:r>
              <a:t>•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554480"/>
            <a:ext cx="3657600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737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EXTERNE (machine en marche)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031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Preparer outils</a:t>
            </a:r>
            <a:br/>
            <a:r>
              <a:t>• Prechauffer</a:t>
            </a:r>
            <a:br/>
            <a:r>
              <a:t>• A portee main</a:t>
            </a:r>
            <a:br/>
            <a:r>
              <a:t>• Check-list prete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194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0A5FA"/>
                </a:solidFill>
              </a:defRPr>
            </a:pPr>
            <a:r>
              <a:t>-&gt;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EXEMPLE OCP - Changement males concasseur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C8C8"/>
                </a:solidFill>
              </a:defRPr>
            </a:pPr>
            <a:r>
              <a:t>AVANT : 4h 30min (INTERNE) | APRES : 2h 15min (SMED) | GAIN : -50% - 2h/fois - 150h/an sur 3 concasseurs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C55E"/>
                </a:solidFill>
              </a:defRPr>
            </a:pPr>
            <a:r>
              <a:t>PRINCIPE : Transformer maximum de taches INTERNES en EXTERNES = Reduire arret 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3 - OUTILS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3C5FD"/>
                </a:solidFill>
              </a:defRPr>
            </a:pPr>
            <a:r>
              <a:t>BRAINSTORMING - Generer des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C8C8C8"/>
                </a:solidFill>
              </a:defRPr>
            </a:pPr>
            <a:r>
              <a:t>4 formats adaptes terrain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CLASSIQUE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459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6-10 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20-40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Reunion equipe - Animateur - Tableau blanc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8046720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STAND-UP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5146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5-8 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146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10-15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146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Debout - Rapide - 1 probleme unique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39"/>
            <a:ext cx="8046720" cy="73152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7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BRAIN 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3832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6 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38327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30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38327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Chacun ecrit 3 idees - Passe feuille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60520"/>
            <a:ext cx="8046720" cy="7315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5195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25195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1 pers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251959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15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51959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Seul - Note TOUS les gaspillages vus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206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C8C8"/>
                </a:solidFill>
              </a:defRPr>
            </a:pPr>
            <a:r>
              <a:t>EXEMPLE SOLO : Technicien note 12 gaspillages pendant son shift -&gt; Detection precoce 3 pannes evitees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3 - OUTILS 2EME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3C5FD"/>
                </a:solidFill>
              </a:defRPr>
            </a:pPr>
            <a:r>
              <a:t>5G - ANDON - Management visuel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657600" cy="2377440"/>
          </a:xfrm>
          <a:prstGeom prst="rect">
            <a:avLst/>
          </a:prstGeom>
          <a:solidFill>
            <a:srgbClr val="162B42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5G - Les 5 Gemba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1. GEMBA : Aller sur terrain - Atelier - Ligne de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2. GEMBUTSU : Observer l'equipement reel - Toucher - Ecouter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0545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3. GENJITSU : Donnees reelles - MES - Pas de supposition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98063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4. GENRI : Principes ingenierie - Physique - Mecanique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90671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5. GEMBA WALK : 15 min/jour - Noter 3 MUDA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280160"/>
            <a:ext cx="3840480" cy="2377440"/>
          </a:xfrm>
          <a:prstGeom prst="rect">
            <a:avLst/>
          </a:prstGeom>
          <a:solidFill>
            <a:srgbClr val="162B42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46304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ANDON - Management Visuel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920240"/>
            <a:ext cx="3474720" cy="3200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1965960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VERT - Equipement OK - Production normale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304288"/>
            <a:ext cx="3474720" cy="32004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350008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ORANGE - Vigilance - Planifie maintenance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2688336"/>
            <a:ext cx="347472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73405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ROUGE - Panne - Action immediate requise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C8C8"/>
                </a:solidFill>
              </a:defRPr>
            </a:pPr>
            <a:r>
              <a:t>EXEMPLE OCP : Tableau ANDON salle controle - 20 equipements - Vert/Orange/Rouge visible de loin - Temps reaction panne -40%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PARTIE 3 - COMPARAISON 5G / GENGSOKU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3C5FD"/>
                </a:solidFill>
              </a:defRPr>
            </a:pPr>
            <a:r>
              <a:t>Comprendre l'ecart pour ajuster votre pratique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657600" cy="2926080"/>
          </a:xfrm>
          <a:prstGeom prst="rect">
            <a:avLst/>
          </a:prstGeom>
          <a:solidFill>
            <a:srgbClr val="162B42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5G - OBSERVER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Aller sur terrain (Gemba)</a:t>
            </a:r>
            <a:br/>
            <a:r>
              <a:t>• Voir l'equipement (Gembutsu)</a:t>
            </a:r>
            <a:br/>
            <a:r>
              <a:t>• Donnees reelles (Genjitsu)</a:t>
            </a:r>
            <a:br/>
            <a:r>
              <a:t>• Principes (Genri)</a:t>
            </a:r>
            <a:br/>
            <a:r>
              <a:t>• Walk 15 min/jour</a:t>
            </a:r>
          </a:p>
          <a:p>
            <a:pPr>
              <a:defRPr sz="1000" i="1">
                <a:solidFill>
                  <a:srgbClr val="93C5FD"/>
                </a:solidFill>
              </a:defRPr>
            </a:pPr>
            <a:r>
              <a:t>But : OBSERVER la realite - Comprendre ce qui se passe reellement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80160"/>
            <a:ext cx="3657600" cy="2926080"/>
          </a:xfrm>
          <a:prstGeom prst="rect">
            <a:avLst/>
          </a:prstGeom>
          <a:solidFill>
            <a:srgbClr val="2D1E14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4630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B923C"/>
                </a:solidFill>
              </a:defRPr>
            </a:pPr>
            <a:r>
              <a:t>GENGSOKU - EXPERIMENTER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9202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• Faire soi-meme</a:t>
            </a:r>
            <a:br/>
            <a:r>
              <a:t>• Essayer l'operation</a:t>
            </a:r>
            <a:br/>
            <a:r>
              <a:t>• Ressentir la difficulte</a:t>
            </a:r>
            <a:br/>
            <a:r>
              <a:t>• Identifier freins reels</a:t>
            </a:r>
            <a:br/>
            <a:r>
              <a:t>• Duree : 1-2h</a:t>
            </a:r>
          </a:p>
          <a:p>
            <a:pPr>
              <a:defRPr sz="1000" i="1">
                <a:solidFill>
                  <a:srgbClr val="FB923C"/>
                </a:solidFill>
              </a:defRPr>
            </a:pPr>
            <a:r>
              <a:t>But : VIVRE le probleme - Experimenter ce que les operateurs subissent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560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5G + GENGSOKU = Complementaires pour une vraie comprehension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C8C8C8"/>
                </a:solidFill>
              </a:defRPr>
            </a:pPr>
            <a:r>
              <a:t>EXEMPLE : 5G -&gt; Je vois le technicien chercher l'outil | GENGSOKU -&gt; Je cherche l'outil moi-meme et je perds 15 min | ACTION : Chariot outillage mobile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4 -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93C5FD"/>
                </a:solidFill>
              </a:defRPr>
            </a:pPr>
            <a:r>
              <a:t>Ce que vous gagnez reellement - Resultats mesures OCP + industrie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840480" cy="1371600"/>
          </a:xfrm>
          <a:prstGeom prst="rect">
            <a:avLst/>
          </a:prstGeom>
          <a:solidFill>
            <a:srgbClr val="162B4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</a:defRPr>
            </a:pPr>
            <a:r>
              <a:t>-40%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Pannes recurrentes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8C8C8"/>
                </a:solidFill>
              </a:defRPr>
            </a:pPr>
            <a:r>
              <a:t>En 6 mois avec PDCA + 5P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3840480" cy="1371600"/>
          </a:xfrm>
          <a:prstGeom prst="rect">
            <a:avLst/>
          </a:prstGeom>
          <a:solidFill>
            <a:srgbClr val="162B4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+2h/j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031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Disponibilite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2316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8C8C8"/>
                </a:solidFill>
              </a:defRPr>
            </a:pPr>
            <a:r>
              <a:t>Par equipement - Sans investissement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3840480" cy="1371600"/>
          </a:xfrm>
          <a:prstGeom prst="rect">
            <a:avLst/>
          </a:prstGeom>
          <a:solidFill>
            <a:srgbClr val="162B42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</a:defRPr>
            </a:pPr>
            <a:r>
              <a:t>-50%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Temps d'intervention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8C8C8"/>
                </a:solidFill>
              </a:defRPr>
            </a:pPr>
            <a:r>
              <a:t>Avec SMED + Organisation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108960"/>
            <a:ext cx="3840480" cy="1371600"/>
          </a:xfrm>
          <a:prstGeom prst="rect">
            <a:avLst/>
          </a:prstGeom>
          <a:solidFill>
            <a:srgbClr val="162B42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291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B923C"/>
                </a:solidFill>
              </a:defRPr>
            </a:pPr>
            <a:r>
              <a:t>0 Dh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749039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D'investissement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069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8C8C8"/>
                </a:solidFill>
              </a:defRPr>
            </a:pPr>
            <a:r>
              <a:t>Juste votre regard - 15 min/jour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TIMELINE DE RESULTATS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1ere SEMAINE -&gt; Identifier MUDA - Gemba Walk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59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1er MOIS -&gt; Premiers resultats visibles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79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3 MOIS -&gt; Equipe autonome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599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6 MOIS -&gt; -40% pannes recurrentes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PARTIE 4 - PLAN D'ACTION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93C5FD"/>
                </a:solidFill>
              </a:defRPr>
            </a:pPr>
            <a:r>
              <a:t>Semaine pratique - Du 18 au 22 Mai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8046720" cy="868680"/>
          </a:xfrm>
          <a:prstGeom prst="rect">
            <a:avLst/>
          </a:prstGeom>
          <a:solidFill>
            <a:srgbClr val="162B42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LUNDI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5G - Gemba Walk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15 min terrain - Noter 3 MUDA observes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508760"/>
            <a:ext cx="338328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16002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OK 3 MUDA identifies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8046720" cy="868680"/>
          </a:xfrm>
          <a:prstGeom prst="rect">
            <a:avLst/>
          </a:prstGeom>
          <a:solidFill>
            <a:srgbClr val="162B4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MARDI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468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QQOQCCP + 5 Pourquoi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30 min sur MUDA critique - Equipe en stand-up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514600"/>
            <a:ext cx="338328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60604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OK Cause racine trouvee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83280"/>
            <a:ext cx="8046720" cy="868680"/>
          </a:xfrm>
          <a:prstGeom prst="rect">
            <a:avLst/>
          </a:prstGeom>
          <a:solidFill>
            <a:srgbClr val="162B42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MERCREDI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Brainstorming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10 min stand-up - Equipe propose 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520440"/>
            <a:ext cx="3383280" cy="5943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6118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OK Solution choisie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89120"/>
            <a:ext cx="8046720" cy="868680"/>
          </a:xfrm>
          <a:prstGeom prst="rect">
            <a:avLst/>
          </a:prstGeom>
          <a:solidFill>
            <a:srgbClr val="162B42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923C"/>
                </a:solidFill>
              </a:defRPr>
            </a:pPr>
            <a:r>
              <a:t>JEUDI 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44805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PDCA - 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Tester solution - Mesurer avant/apres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4526280"/>
            <a:ext cx="3383280" cy="59436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46177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OK Resultat mesure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94960"/>
            <a:ext cx="8046720" cy="868680"/>
          </a:xfrm>
          <a:prstGeom prst="rect">
            <a:avLst/>
          </a:prstGeom>
          <a:solidFill>
            <a:srgbClr val="162B42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VENDREDI 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54864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Standardisation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Si succes : Standard - Partager aux autres equipes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5532120"/>
            <a:ext cx="338328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56235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OK Standard diffuse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836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OBJECTIF SEMAINE : 1 KAIZEN teste par equipe = 5 ameliorations concretes OCP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ANNEXE - MÉMO OUTILS TERRAIN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3C5FD"/>
                </a:solidFill>
              </a:defRPr>
            </a:pPr>
            <a:r>
              <a:t>A emporter - Guide rapide terrain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93192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PDCA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35331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Amelioration quotidienne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3533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Cycle 1 semaine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393192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5331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QQOQCCP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5331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Definir probleme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3533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30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39"/>
            <a:ext cx="393192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93391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5 Pourquoi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1993391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Cause racine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1993391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15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1920239"/>
            <a:ext cx="393192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993391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SMED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993391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Reduire temps changement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993391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Projet 1 mois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560320"/>
            <a:ext cx="393192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63347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Brainstorming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19" y="26334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Generer solutions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26334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10-40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2560320"/>
            <a:ext cx="393192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263347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5G/Andon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6334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Management visuel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63347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15 min/jour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200400"/>
            <a:ext cx="393192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2735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8D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19" y="3273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Incident grave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2735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3j-2sem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3200400"/>
            <a:ext cx="3931920" cy="548640"/>
          </a:xfrm>
          <a:prstGeom prst="rect">
            <a:avLst/>
          </a:prstGeom>
          <a:solidFill>
            <a:srgbClr val="162B42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2735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DMAIC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27355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Projet complexe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27355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8C8C8"/>
                </a:solidFill>
              </a:defRPr>
            </a:pPr>
            <a:r>
              <a:t>1-3 mois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CHECKLIST QUOTIDIEN RESPONSABLE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□ Gemba Walk 15 min - Noter 3 MUDA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02920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□ Verifier ANDON - Planifier actions ROUGES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30352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□ Briefing equipe - QQOQCCP sur probleme du jour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577840"/>
            <a:ext cx="7680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□ Valider 1 amelioration KAIZEN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60A5FA"/>
                </a:solidFill>
              </a:defRPr>
            </a:pPr>
            <a:r>
              <a:t>"Lean Maintenance : Un voyage, pas une destination."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103120"/>
            <a:ext cx="6400800" cy="502920"/>
          </a:xfrm>
          <a:prstGeom prst="rect">
            <a:avLst/>
          </a:prstGeom>
          <a:solidFill>
            <a:srgbClr val="162B42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19456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Commencez PETIT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94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1 MUDA a la fois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743200"/>
            <a:ext cx="6400800" cy="502920"/>
          </a:xfrm>
          <a:prstGeom prst="rect">
            <a:avLst/>
          </a:prstGeom>
          <a:solidFill>
            <a:srgbClr val="162B42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8346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Commencez MAINTENANT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8346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Lundi 18 mai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383280"/>
            <a:ext cx="6400800" cy="502920"/>
          </a:xfrm>
          <a:prstGeom prst="rect">
            <a:avLst/>
          </a:prstGeom>
          <a:solidFill>
            <a:srgbClr val="162B42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4747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0A5FA"/>
                </a:solidFill>
              </a:defRPr>
            </a:pPr>
            <a:r>
              <a:t>Capitalisez TOUJOURS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4747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Partagez les succes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2C55E"/>
                </a:solidFill>
              </a:defRPr>
            </a:pPr>
            <a:r>
              <a:t>Votre equipe vous attend. Les outils sont prets. La premiere amelioration commence lundi.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303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Direction Maintenance OCP - Formation KAIZEN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3C5FD"/>
                </a:solidFill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