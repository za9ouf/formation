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020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17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B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457200" cy="4846320"/>
          </a:xfrm>
          <a:prstGeom prst="rect">
            <a:avLst/>
          </a:prstGeom>
          <a:solidFill>
            <a:srgbClr val="0060A0"/>
          </a:solidFill>
          <a:ln/>
        </p:spPr>
      </p:sp>
      <p:sp>
        <p:nvSpPr>
          <p:cNvPr id="3" name="Shape 1"/>
          <p:cNvSpPr/>
          <p:nvPr/>
        </p:nvSpPr>
        <p:spPr>
          <a:xfrm>
            <a:off x="2103120" y="0"/>
            <a:ext cx="457200" cy="4846320"/>
          </a:xfrm>
          <a:prstGeom prst="rect">
            <a:avLst/>
          </a:prstGeom>
          <a:solidFill>
            <a:srgbClr val="0060A0"/>
          </a:solidFill>
          <a:ln/>
        </p:spPr>
      </p:sp>
      <p:sp>
        <p:nvSpPr>
          <p:cNvPr id="4" name="Shape 2"/>
          <p:cNvSpPr/>
          <p:nvPr/>
        </p:nvSpPr>
        <p:spPr>
          <a:xfrm>
            <a:off x="3840480" y="0"/>
            <a:ext cx="457200" cy="4846320"/>
          </a:xfrm>
          <a:prstGeom prst="rect">
            <a:avLst/>
          </a:prstGeom>
          <a:solidFill>
            <a:srgbClr val="0060A0"/>
          </a:solidFill>
          <a:ln/>
        </p:spPr>
      </p:sp>
      <p:sp>
        <p:nvSpPr>
          <p:cNvPr id="5" name="Shape 3"/>
          <p:cNvSpPr/>
          <p:nvPr/>
        </p:nvSpPr>
        <p:spPr>
          <a:xfrm>
            <a:off x="5577840" y="0"/>
            <a:ext cx="457200" cy="4846320"/>
          </a:xfrm>
          <a:prstGeom prst="rect">
            <a:avLst/>
          </a:prstGeom>
          <a:solidFill>
            <a:srgbClr val="0060A0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0" y="0"/>
            <a:ext cx="457200" cy="4846320"/>
          </a:xfrm>
          <a:prstGeom prst="rect">
            <a:avLst/>
          </a:prstGeom>
          <a:solidFill>
            <a:srgbClr val="0060A0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0" y="274320"/>
            <a:ext cx="12801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0" y="3657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4B87"/>
                </a:solidFill>
              </a:rPr>
              <a:t>OCP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Lean &amp;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Continue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3C5FD"/>
                </a:solidFill>
              </a:rPr>
              <a:t>Formation KAIZEN — Direction Maintenance OCP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7315200" cy="0"/>
          </a:xfrm>
          <a:prstGeom prst="line">
            <a:avLst/>
          </a:prstGeom>
          <a:noFill/>
          <a:ln w="25400">
            <a:solidFill>
              <a:srgbClr val="0060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06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00386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7432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0A5FA"/>
                </a:solidFill>
              </a:rPr>
              <a:t>-40%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3246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</a:rPr>
              <a:t>Pannes récurrentes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55848" y="2606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003866"/>
          </a:solidFill>
          <a:ln/>
        </p:spPr>
      </p:sp>
      <p:sp>
        <p:nvSpPr>
          <p:cNvPr id="17" name="Text 15"/>
          <p:cNvSpPr/>
          <p:nvPr/>
        </p:nvSpPr>
        <p:spPr>
          <a:xfrm>
            <a:off x="3355848" y="27432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0A5FA"/>
                </a:solidFill>
              </a:rPr>
              <a:t>+2h/j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355848" y="3246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</a:rPr>
              <a:t>Disponibilité équipement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54496" y="260604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003866"/>
          </a:solidFill>
          <a:ln/>
        </p:spPr>
      </p:sp>
      <p:sp>
        <p:nvSpPr>
          <p:cNvPr id="20" name="Text 18"/>
          <p:cNvSpPr/>
          <p:nvPr/>
        </p:nvSpPr>
        <p:spPr>
          <a:xfrm>
            <a:off x="6254496" y="27432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0A5FA"/>
                </a:solidFill>
              </a:rPr>
              <a:t>0 Dh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254496" y="3246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</a:rPr>
              <a:t>D'investissement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1/20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INTRODUCTION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cette formation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La maintenance OCP : défis et opportunités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3258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1E6FA8"/>
                </a:solidFill>
              </a:rPr>
              <a:t>COÛT CACHÉ EN MAINTENANCE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664208"/>
            <a:ext cx="1645920" cy="411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1664208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Visible — 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75688"/>
            <a:ext cx="384048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57200" y="2075688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B82F6"/>
                </a:solidFill>
              </a:rPr>
              <a:t>Ligne de flottaison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" y="2240280"/>
            <a:ext cx="3017520" cy="10058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24028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Caché — 80%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Attentes pièces · Retouches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Déplacements inutiles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4114800" cy="2468880"/>
          </a:xfrm>
          <a:prstGeom prst="roundRect">
            <a:avLst>
              <a:gd name="adj" fmla="val 2963"/>
            </a:avLst>
          </a:prstGeom>
          <a:solidFill>
            <a:srgbClr val="F3F4F6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12984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Problèmes réels maintenance OCP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1627632"/>
            <a:ext cx="54864" cy="274320"/>
          </a:xfrm>
          <a:prstGeom prst="rect">
            <a:avLst/>
          </a:prstGeom>
          <a:solidFill>
            <a:srgbClr val="E31C23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600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Panne concasseur → revient chaque semaine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039112"/>
            <a:ext cx="54864" cy="274320"/>
          </a:xfrm>
          <a:prstGeom prst="rect">
            <a:avLst/>
          </a:prstGeom>
          <a:solidFill>
            <a:srgbClr val="E31C23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011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Technicien attend 2h la pièce de rechange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50592"/>
            <a:ext cx="54864" cy="274320"/>
          </a:xfrm>
          <a:prstGeom prst="rect">
            <a:avLst/>
          </a:prstGeom>
          <a:solidFill>
            <a:srgbClr val="E31C23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4231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3 équipes différentes pour le même problème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862072"/>
            <a:ext cx="54864" cy="274320"/>
          </a:xfrm>
          <a:prstGeom prst="rect">
            <a:avLst/>
          </a:prstGeom>
          <a:solidFill>
            <a:srgbClr val="E31C23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2834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Rapport d'intervention jamais consulté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273552"/>
            <a:ext cx="54864" cy="274320"/>
          </a:xfrm>
          <a:prstGeom prst="rect">
            <a:avLst/>
          </a:prstGeom>
          <a:solidFill>
            <a:srgbClr val="E31C23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Stock pièces éparpillé sur 3 sites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3840480"/>
            <a:ext cx="8412480" cy="54864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65760" y="3840480"/>
            <a:ext cx="54864" cy="548640"/>
          </a:xfrm>
          <a:prstGeom prst="rect">
            <a:avLst/>
          </a:prstGeom>
          <a:solidFill>
            <a:srgbClr val="E31C23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87705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1B1B"/>
                </a:solidFill>
              </a:rPr>
              <a:t>Coût caché = 30% du temps maintenance → Potential de gain : 500h/an/atelier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30" name="Shape 28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2/20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INTRODUCTION · PROBLÉMATIQUE MAINTENANCE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cercle vicieux de la maintenance réactive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515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</a:rPr>
              <a:t>Panne concasseur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48840" y="118872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CA3AF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68880" y="10515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/>
        </p:spPr>
      </p:sp>
      <p:sp>
        <p:nvSpPr>
          <p:cNvPr id="9" name="Text 7"/>
          <p:cNvSpPr/>
          <p:nvPr/>
        </p:nvSpPr>
        <p:spPr>
          <a:xfrm>
            <a:off x="2468880" y="10515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Réparation rapide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51960" y="118872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CA3AF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0" y="10515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DBEAF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0515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</a:rPr>
              <a:t>Panne revient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118872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CA3AF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675120" y="10515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3E8FF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10515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21A8"/>
                </a:solidFill>
              </a:rPr>
              <a:t>Stress équipe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06240" y="157276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F4444"/>
                </a:solidFill>
              </a:rPr>
              <a:t>↓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65760" y="19659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ECAC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965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F1D1D"/>
                </a:solidFill>
              </a:rPr>
              <a:t>Équipe fatiguée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48840" y="210312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CA3AF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468880" y="19659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DE68A"/>
          </a:solidFill>
          <a:ln/>
        </p:spPr>
      </p:sp>
      <p:sp>
        <p:nvSpPr>
          <p:cNvPr id="21" name="Text 19"/>
          <p:cNvSpPr/>
          <p:nvPr/>
        </p:nvSpPr>
        <p:spPr>
          <a:xfrm>
            <a:off x="2468880" y="1965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8350F"/>
                </a:solidFill>
              </a:rPr>
              <a:t>Panne grave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251960" y="210312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CA3AF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572000" y="19659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BBF7D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0" y="1965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6534"/>
                </a:solidFill>
              </a:rPr>
              <a:t>Morale dégradée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55080" y="210312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CA3AF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675120" y="19659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CA5A5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1965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91B1B"/>
                </a:solidFill>
              </a:rPr>
              <a:t>Turnover ↑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2697480"/>
            <a:ext cx="8412480" cy="640080"/>
          </a:xfrm>
          <a:prstGeom prst="roundRect">
            <a:avLst>
              <a:gd name="adj" fmla="val 8571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275234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8912" y="2990088"/>
            <a:ext cx="8275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Concasseur BW1 : panne moteur traitée 3 fois en 2 semaines → Coût total = 8h + 20k Dh de pièces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3493008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/>
        </p:spPr>
      </p:sp>
      <p:sp>
        <p:nvSpPr>
          <p:cNvPr id="32" name="Shape 30"/>
          <p:cNvSpPr/>
          <p:nvPr/>
        </p:nvSpPr>
        <p:spPr>
          <a:xfrm>
            <a:off x="365760" y="3493008"/>
            <a:ext cx="54864" cy="868680"/>
          </a:xfrm>
          <a:prstGeom prst="rect">
            <a:avLst/>
          </a:prstGeom>
          <a:solidFill>
            <a:srgbClr val="0B7A6A"/>
          </a:solidFill>
          <a:ln/>
        </p:spPr>
      </p:sp>
      <p:sp>
        <p:nvSpPr>
          <p:cNvPr id="33" name="Text 31"/>
          <p:cNvSpPr/>
          <p:nvPr/>
        </p:nvSpPr>
        <p:spPr>
          <a:xfrm>
            <a:off x="512064" y="3584448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7A6A"/>
                </a:solidFill>
              </a:rPr>
              <a:t>✓ Avec KAIZEN : Analyse racine → Action corrective → Standard → Plus jamais ce problème.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35" name="Shape 33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3/20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1 · LEAN THINKING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le Lean Management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Appliqué à la maintenance OCP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0FDF4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234440"/>
            <a:ext cx="54864" cy="685800"/>
          </a:xfrm>
          <a:prstGeom prst="rect">
            <a:avLst/>
          </a:prstGeom>
          <a:solidFill>
            <a:srgbClr val="0B7A6A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" y="129844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7A6A"/>
                </a:solidFill>
              </a:rPr>
              <a:t>Objectif Maintenance : Maximiser la disponibilité équipement en éliminant les pertes.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LES 5 PRINCIPES APPLIQUÉS À LA MAINTENANCE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2286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40AF"/>
                </a:solidFill>
              </a:rPr>
              <a:t>Valeur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28800" y="23774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84832" y="2286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/>
        </p:spPr>
      </p:sp>
      <p:sp>
        <p:nvSpPr>
          <p:cNvPr id="14" name="Text 12"/>
          <p:cNvSpPr/>
          <p:nvPr/>
        </p:nvSpPr>
        <p:spPr>
          <a:xfrm>
            <a:off x="2084832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6534"/>
                </a:solidFill>
              </a:rPr>
              <a:t>Flux valeur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47872" y="23774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803904" y="2286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3803904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2400E"/>
                </a:solidFill>
              </a:rPr>
              <a:t>Flux continu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66944" y="23774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522976" y="2286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/>
        </p:spPr>
      </p:sp>
      <p:sp>
        <p:nvSpPr>
          <p:cNvPr id="20" name="Text 18"/>
          <p:cNvSpPr/>
          <p:nvPr/>
        </p:nvSpPr>
        <p:spPr>
          <a:xfrm>
            <a:off x="5522976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21B6"/>
                </a:solidFill>
              </a:rPr>
              <a:t>Flux tiré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86016" y="23774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42048" y="228600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CE7F3"/>
          </a:solidFill>
          <a:ln/>
        </p:spPr>
      </p:sp>
      <p:sp>
        <p:nvSpPr>
          <p:cNvPr id="23" name="Text 21"/>
          <p:cNvSpPr/>
          <p:nvPr/>
        </p:nvSpPr>
        <p:spPr>
          <a:xfrm>
            <a:off x="7242048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F1239"/>
                </a:solidFill>
              </a:rPr>
              <a:t>Perfection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2880360"/>
            <a:ext cx="8412480" cy="731520"/>
          </a:xfrm>
          <a:prstGeom prst="roundRect">
            <a:avLst>
              <a:gd name="adj" fmla="val 7500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293522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38912" y="3172968"/>
            <a:ext cx="8275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VA = Réparer · Tester · Optimiser | NVA = Chercher pièces · Attendre · Compléter papier inutile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7490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7947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82F6"/>
                </a:solidFill>
              </a:rPr>
              <a:t>-35%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365760" y="4206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Temps arrêt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487168" y="37490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</p:sp>
      <p:sp>
        <p:nvSpPr>
          <p:cNvPr id="31" name="Text 29"/>
          <p:cNvSpPr/>
          <p:nvPr/>
        </p:nvSpPr>
        <p:spPr>
          <a:xfrm>
            <a:off x="2487168" y="37947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C55E"/>
                </a:solidFill>
              </a:rPr>
              <a:t>-25%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2487168" y="4206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Coûts maintenance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08576" y="37490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</p:sp>
      <p:sp>
        <p:nvSpPr>
          <p:cNvPr id="34" name="Text 32"/>
          <p:cNvSpPr/>
          <p:nvPr/>
        </p:nvSpPr>
        <p:spPr>
          <a:xfrm>
            <a:off x="4608576" y="37947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F4444"/>
                </a:solidFill>
              </a:rPr>
              <a:t>-60%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4608576" y="4206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Pannes récurrentes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729984" y="37490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F3F4F6"/>
          </a:solidFill>
          <a:ln/>
        </p:spPr>
      </p:sp>
      <p:sp>
        <p:nvSpPr>
          <p:cNvPr id="37" name="Text 35"/>
          <p:cNvSpPr/>
          <p:nvPr/>
        </p:nvSpPr>
        <p:spPr>
          <a:xfrm>
            <a:off x="6729984" y="37947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</a:rPr>
              <a:t>+30%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6729984" y="42062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</a:rPr>
              <a:t>MTBF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0" name="Shape 38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4/20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1 · PRIORITÉ KAIZEN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 — Notre priorité absolue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改善 · Amélioration continue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5120640" cy="2560320"/>
          </a:xfrm>
          <a:prstGeom prst="rect">
            <a:avLst/>
          </a:prstGeom>
          <a:solidFill>
            <a:srgbClr val="F0FDF4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34440"/>
            <a:ext cx="73152" cy="25603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98448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66534"/>
                </a:solidFill>
              </a:rPr>
              <a:t>KAIZEN EN MAINTENANCE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1572768"/>
            <a:ext cx="1188720" cy="228600"/>
          </a:xfrm>
          <a:prstGeom prst="roundRect">
            <a:avLst>
              <a:gd name="adj" fmla="val 16000"/>
            </a:avLst>
          </a:prstGeom>
          <a:solidFill>
            <a:srgbClr val="DCFCE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57276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</a:rPr>
              <a:t>RECOMMANDÉ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18745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Petites améliorations quotidiennes par toute l'équipe maintenance.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304288"/>
            <a:ext cx="201168" cy="20116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30428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" y="2295144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Observer : Noter 3 gaspillages/shift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201168" cy="20116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65176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264261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Analyser : 5 Pourquoi en équipe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999232"/>
            <a:ext cx="201168" cy="20116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9923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" y="299008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Améliorer : Tester cette semaine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346704"/>
            <a:ext cx="201168" cy="20116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34670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333756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Standardiser : Partager avec autres équipes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0" y="1234440"/>
            <a:ext cx="3108960" cy="2560320"/>
          </a:xfrm>
          <a:prstGeom prst="roundRect">
            <a:avLst>
              <a:gd name="adj" fmla="val 2143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42432" y="1289304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742432" y="1527048"/>
            <a:ext cx="2971800" cy="2212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Charriot d'outillage mobile → -15min/intervention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Gain : 75h/an sur broyeur cru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Coût : 5000 Dh | ROI : 1 mois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28" name="Shape 26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5/20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1 · VALEUR AJOUTÉE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/ NVA — Ce que le client paie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Analyse d'une intervention maintenance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7280"/>
                </a:solidFill>
              </a:rPr>
              <a:t>RÉPARTITION TEMPS INTERVENTION CONCASSEUR (8h)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1828800" cy="32004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417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VA 2.5h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94560" y="1417320"/>
            <a:ext cx="182880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2194560" y="1417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NVA nécessaire 1.5h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023360" y="1417320"/>
            <a:ext cx="475488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0233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GASPILLAGE 4h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187452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1874520"/>
            <a:ext cx="2697480" cy="228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1874520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LE CLIENT PAIE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13969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</a:rPr>
              <a:t>VA — RÉPARATION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8912" y="2414016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Diagnostic · Réparation · Test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18688" y="187452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18688" y="1874520"/>
            <a:ext cx="2697480" cy="228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3218688" y="1874520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OBLIGATOIRE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291840" y="213969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</a:rPr>
              <a:t>NVA NÉCESSAIRE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91840" y="2414016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Consignation · EPI · Permis feu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71616" y="187452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71616" y="1874520"/>
            <a:ext cx="2697480" cy="228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3"/>
          <p:cNvSpPr/>
          <p:nvPr/>
        </p:nvSpPr>
        <p:spPr>
          <a:xfrm>
            <a:off x="6071616" y="1874520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À ÉLIMINER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44768" y="213969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GASPILLAGE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44768" y="2414016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Chercher pièce · Attendre · Compléter papers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520440"/>
            <a:ext cx="8412480" cy="640080"/>
          </a:xfrm>
          <a:prstGeom prst="roundRect">
            <a:avLst>
              <a:gd name="adj" fmla="val 8571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357530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8912" y="3813048"/>
            <a:ext cx="8275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Réduire gaspillage de 4h → 2h = 2h gagnées/intervention = 25% de capacité supplémentaire SANS recrutement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32" name="Shape 30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6/20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1 · LES 7 MUDA MAINTENANCE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7 gaspillages à éliminer en maintenance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MUDA = 無駄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527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1271016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SURPRODUCTION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49047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Rapports non lus · Stocks pièces excessifs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14600" y="123444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14600" y="12527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953512" y="1271016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ATTENTE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53512" y="149047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Technicien attend pièce · Attente autorisation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2527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🚚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02352" y="1271016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TRANSPORT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02352" y="149047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Pièces stock loin · Allers-retours magasin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12280" y="123444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2527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251192" y="1271016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TRAITEMENT EXCESSIF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251192" y="149047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Rapports trop détaillés · 3 validations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210312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121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04672" y="2139696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STOCKS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4672" y="235915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Pièces qui dorment · Obsolescence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14600" y="210312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2121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🚶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953512" y="2139696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MOUVEMENTS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953512" y="235915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Chercher outillage · Déplacements inutiles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210312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121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02352" y="2139696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DÉFAUTS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02352" y="235915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Reprise · Retouche · Mauvais diagnostic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812280" y="210312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12280" y="2121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251192" y="2139696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TALENT IGNORÉ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251192" y="2359152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Idées terrain non écoutées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3017520"/>
            <a:ext cx="8412480" cy="640080"/>
          </a:xfrm>
          <a:prstGeom prst="roundRect">
            <a:avLst>
              <a:gd name="adj" fmla="val 8571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307238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8912" y="3310128"/>
            <a:ext cx="8275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Atelier LK3 : 3h/jour perdues en attentes pièces → Solution : Bac pièces critique près ligne → Gain : 750h/an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2" name="Shape 40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7/20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2 · MÉTHODES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 — La roue de l'amélioration continue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W. Edwards Deming 1950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32588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325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2011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</a:rPr>
              <a:t>Plan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D4ED8"/>
                </a:solidFill>
              </a:rPr>
              <a:t>Définir l'objectif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D4ED8"/>
                </a:solidFill>
              </a:rPr>
              <a:t>Analyser causes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DCFCE7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27248" y="1325880"/>
            <a:ext cx="640080" cy="640080"/>
          </a:xfrm>
          <a:prstGeom prst="ellipse">
            <a:avLst/>
          </a:prstGeom>
          <a:solidFill>
            <a:srgbClr val="166534"/>
          </a:solidFill>
          <a:ln/>
        </p:spPr>
      </p:sp>
      <p:sp>
        <p:nvSpPr>
          <p:cNvPr id="13" name="Text 11"/>
          <p:cNvSpPr/>
          <p:nvPr/>
        </p:nvSpPr>
        <p:spPr>
          <a:xfrm>
            <a:off x="3127248" y="1325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487168" y="2011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6534"/>
                </a:solidFill>
              </a:rPr>
              <a:t>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78608" y="233172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66534"/>
                </a:solidFill>
              </a:rPr>
              <a:t>Tester solution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66534"/>
                </a:solidFill>
              </a:rPr>
              <a:t>Périmètre limité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08576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48656" y="1325880"/>
            <a:ext cx="640080" cy="640080"/>
          </a:xfrm>
          <a:prstGeom prst="ellipse">
            <a:avLst/>
          </a:prstGeom>
          <a:solidFill>
            <a:srgbClr val="92400E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325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C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608576" y="2011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2400E"/>
                </a:solidFill>
              </a:rPr>
              <a:t>Check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00016" y="233172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2400E"/>
                </a:solidFill>
              </a:rPr>
              <a:t>Mesurer résultats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2400E"/>
                </a:solidFill>
              </a:rPr>
              <a:t>Analyser écarts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29984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EE2E2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70064" y="1325880"/>
            <a:ext cx="640080" cy="640080"/>
          </a:xfrm>
          <a:prstGeom prst="ellipse">
            <a:avLst/>
          </a:prstGeom>
          <a:solidFill>
            <a:srgbClr val="991B1B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1325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A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729984" y="2011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91B1B"/>
                </a:solidFill>
              </a:rPr>
              <a:t>Act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21424" y="233172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1B1B"/>
                </a:solidFill>
              </a:rPr>
              <a:t>Standardiser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91B1B"/>
                </a:solidFill>
              </a:rPr>
              <a:t>Capitaliser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520440"/>
            <a:ext cx="8412480" cy="10972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357530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38912" y="3813048"/>
            <a:ext cx="8275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P : Arrêt 4h/semaine → Objectif : 1h · Causes : capteur HS + délai pièces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D : Stock capteur de secours + Formation équipe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C : Arrêt tombé à 0.8h/semaine (-80%)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A : Standard appliqué à toutes les lignes LK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30" name="Shape 28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8/20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2 · MÉTHODES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DMAIC — Pour problèmes complexes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Six Sigma · Motorola 1986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234440"/>
            <a:ext cx="1572768" cy="1828800"/>
          </a:xfrm>
          <a:prstGeom prst="roundRect">
            <a:avLst>
              <a:gd name="adj" fmla="val 407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298448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984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20040" y="1965960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</a:rPr>
              <a:t>Définir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2240280"/>
            <a:ext cx="14356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</a:rPr>
              <a:t>Charte projet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D4ED8"/>
                </a:solidFill>
              </a:rPr>
              <a:t>QQOQCCP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39112" y="1234440"/>
            <a:ext cx="1572768" cy="1828800"/>
          </a:xfrm>
          <a:prstGeom prst="roundRect">
            <a:avLst>
              <a:gd name="adj" fmla="val 4070"/>
            </a:avLst>
          </a:prstGeom>
          <a:solidFill>
            <a:srgbClr val="DCFCE7"/>
          </a:solidFill>
          <a:ln/>
        </p:spPr>
      </p:sp>
      <p:sp>
        <p:nvSpPr>
          <p:cNvPr id="12" name="Shape 10"/>
          <p:cNvSpPr/>
          <p:nvPr/>
        </p:nvSpPr>
        <p:spPr>
          <a:xfrm>
            <a:off x="2496312" y="1298448"/>
            <a:ext cx="640080" cy="640080"/>
          </a:xfrm>
          <a:prstGeom prst="ellipse">
            <a:avLst/>
          </a:prstGeom>
          <a:solidFill>
            <a:srgbClr val="166534"/>
          </a:solidFill>
          <a:ln/>
        </p:spPr>
      </p:sp>
      <p:sp>
        <p:nvSpPr>
          <p:cNvPr id="13" name="Text 11"/>
          <p:cNvSpPr/>
          <p:nvPr/>
        </p:nvSpPr>
        <p:spPr>
          <a:xfrm>
            <a:off x="2496312" y="12984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039112" y="1965960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6534"/>
                </a:solidFill>
              </a:rPr>
              <a:t>Mesurer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12264" y="2240280"/>
            <a:ext cx="14356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66534"/>
                </a:solidFill>
              </a:rPr>
              <a:t>Collecter données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66534"/>
                </a:solidFill>
              </a:rPr>
              <a:t>Baseline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758184" y="1234440"/>
            <a:ext cx="1572768" cy="1828800"/>
          </a:xfrm>
          <a:prstGeom prst="roundRect">
            <a:avLst>
              <a:gd name="adj" fmla="val 4070"/>
            </a:avLst>
          </a:prstGeom>
          <a:solidFill>
            <a:srgbClr val="FEF3C7"/>
          </a:solidFill>
          <a:ln/>
        </p:spPr>
      </p:sp>
      <p:sp>
        <p:nvSpPr>
          <p:cNvPr id="17" name="Shape 15"/>
          <p:cNvSpPr/>
          <p:nvPr/>
        </p:nvSpPr>
        <p:spPr>
          <a:xfrm>
            <a:off x="4215384" y="1298448"/>
            <a:ext cx="640080" cy="640080"/>
          </a:xfrm>
          <a:prstGeom prst="ellipse">
            <a:avLst/>
          </a:prstGeom>
          <a:solidFill>
            <a:srgbClr val="92400E"/>
          </a:solidFill>
          <a:ln/>
        </p:spPr>
      </p:sp>
      <p:sp>
        <p:nvSpPr>
          <p:cNvPr id="18" name="Text 16"/>
          <p:cNvSpPr/>
          <p:nvPr/>
        </p:nvSpPr>
        <p:spPr>
          <a:xfrm>
            <a:off x="4215384" y="12984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A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758184" y="1965960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2400E"/>
                </a:solidFill>
              </a:rPr>
              <a:t>Analyser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31336" y="2240280"/>
            <a:ext cx="14356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2400E"/>
                </a:solidFill>
              </a:rPr>
              <a:t>5 Pourquoi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2400E"/>
                </a:solidFill>
              </a:rPr>
              <a:t>Ishikawa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77256" y="1234440"/>
            <a:ext cx="1572768" cy="1828800"/>
          </a:xfrm>
          <a:prstGeom prst="roundRect">
            <a:avLst>
              <a:gd name="adj" fmla="val 4070"/>
            </a:avLst>
          </a:prstGeom>
          <a:solidFill>
            <a:srgbClr val="EDE9F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34456" y="1298448"/>
            <a:ext cx="640080" cy="640080"/>
          </a:xfrm>
          <a:prstGeom prst="ellipse">
            <a:avLst/>
          </a:prstGeom>
          <a:solidFill>
            <a:srgbClr val="5B21B6"/>
          </a:solidFill>
          <a:ln/>
        </p:spPr>
      </p:sp>
      <p:sp>
        <p:nvSpPr>
          <p:cNvPr id="23" name="Text 21"/>
          <p:cNvSpPr/>
          <p:nvPr/>
        </p:nvSpPr>
        <p:spPr>
          <a:xfrm>
            <a:off x="5934456" y="12984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I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477256" y="1965960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21B6"/>
                </a:solidFill>
              </a:rPr>
              <a:t>Améliorer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50408" y="2240280"/>
            <a:ext cx="14356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21B6"/>
                </a:solidFill>
              </a:rPr>
              <a:t>Solutions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21B6"/>
                </a:solidFill>
              </a:rPr>
              <a:t>Pilotes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196328" y="1234440"/>
            <a:ext cx="1572768" cy="1828800"/>
          </a:xfrm>
          <a:prstGeom prst="roundRect">
            <a:avLst>
              <a:gd name="adj" fmla="val 4070"/>
            </a:avLst>
          </a:prstGeom>
          <a:solidFill>
            <a:srgbClr val="FEE2E2"/>
          </a:solidFill>
          <a:ln/>
        </p:spPr>
      </p:sp>
      <p:sp>
        <p:nvSpPr>
          <p:cNvPr id="27" name="Shape 25"/>
          <p:cNvSpPr/>
          <p:nvPr/>
        </p:nvSpPr>
        <p:spPr>
          <a:xfrm>
            <a:off x="7653528" y="1298448"/>
            <a:ext cx="640080" cy="640080"/>
          </a:xfrm>
          <a:prstGeom prst="ellipse">
            <a:avLst/>
          </a:prstGeom>
          <a:solidFill>
            <a:srgbClr val="991B1B"/>
          </a:solidFill>
          <a:ln/>
        </p:spPr>
      </p:sp>
      <p:sp>
        <p:nvSpPr>
          <p:cNvPr id="28" name="Text 26"/>
          <p:cNvSpPr/>
          <p:nvPr/>
        </p:nvSpPr>
        <p:spPr>
          <a:xfrm>
            <a:off x="7653528" y="12984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C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96328" y="1965960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91B1B"/>
                </a:solidFill>
              </a:rPr>
              <a:t>Contrôler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269480" y="2240280"/>
            <a:ext cx="143560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1B1B"/>
                </a:solidFill>
              </a:rPr>
              <a:t>Mgmt visuel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91B1B"/>
                </a:solidFill>
              </a:rPr>
              <a:t>Standards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3200400"/>
            <a:ext cx="8412480" cy="822960"/>
          </a:xfrm>
          <a:prstGeom prst="roundRect">
            <a:avLst>
              <a:gd name="adj" fmla="val 6667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25526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38912" y="3493008"/>
            <a:ext cx="8275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Durée : 3 mois · Équipe : 5 personnes · Gain : 2 MDh/an · Méthode : DMAIC complet avec données analyse SPC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35" name="Shape 33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9/20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2 · MÉTHODES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8D — Résolution incidents graves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Ford Motor Company 1987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2011680" cy="868680"/>
          </a:xfrm>
          <a:prstGeom prst="rect">
            <a:avLst/>
          </a:prstGeom>
          <a:solidFill>
            <a:srgbClr val="DBEAFE"/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34440"/>
            <a:ext cx="45720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12893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</a:rPr>
              <a:t>D1 : Équipe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" y="158191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Multidisciplinaire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14600" y="1234440"/>
            <a:ext cx="2011680" cy="868680"/>
          </a:xfrm>
          <a:prstGeom prst="rect">
            <a:avLst/>
          </a:prstGeom>
          <a:solidFill>
            <a:srgbClr val="DBEAFE"/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14600" y="1234440"/>
            <a:ext cx="45720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2624328" y="12893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</a:rPr>
              <a:t>D2 : Définir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24328" y="158191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Description précise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2011680" cy="868680"/>
          </a:xfrm>
          <a:prstGeom prst="rect">
            <a:avLst/>
          </a:prstGeom>
          <a:solidFill>
            <a:srgbClr val="DCFCE7"/>
          </a:solidFill>
          <a:ln w="10160">
            <a:solidFill>
              <a:srgbClr val="22C5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234440"/>
            <a:ext cx="45720" cy="8686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6" name="Text 14"/>
          <p:cNvSpPr/>
          <p:nvPr/>
        </p:nvSpPr>
        <p:spPr>
          <a:xfrm>
            <a:off x="4773168" y="12893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D3 : Action immédiate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58191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Stopper l'hémorragie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812280" y="1234440"/>
            <a:ext cx="2011680" cy="868680"/>
          </a:xfrm>
          <a:prstGeom prst="rect">
            <a:avLst/>
          </a:prstGeom>
          <a:solidFill>
            <a:srgbClr val="DCFCE7"/>
          </a:solidFill>
          <a:ln w="10160">
            <a:solidFill>
              <a:srgbClr val="22C5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12280" y="1234440"/>
            <a:ext cx="45720" cy="8686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Text 18"/>
          <p:cNvSpPr/>
          <p:nvPr/>
        </p:nvSpPr>
        <p:spPr>
          <a:xfrm>
            <a:off x="6922008" y="12893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D4 : Causes racines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22008" y="158191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5 Pourquoi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2240280"/>
            <a:ext cx="2011680" cy="868680"/>
          </a:xfrm>
          <a:prstGeom prst="rect">
            <a:avLst/>
          </a:prstGeom>
          <a:solidFill>
            <a:srgbClr val="FEF3C7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2240280"/>
            <a:ext cx="45720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22951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D5 : Solutions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" y="258775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Impact vs faisabilité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514600" y="2240280"/>
            <a:ext cx="2011680" cy="868680"/>
          </a:xfrm>
          <a:prstGeom prst="rect">
            <a:avLst/>
          </a:prstGeom>
          <a:solidFill>
            <a:srgbClr val="FEF3C7"/>
          </a:solidFill>
          <a:ln w="10160">
            <a:solidFill>
              <a:srgbClr val="F59E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14600" y="2240280"/>
            <a:ext cx="45720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2624328" y="22951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D6 : Implémenter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624328" y="258775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Plan · Responsables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63440" y="2240280"/>
            <a:ext cx="2011680" cy="868680"/>
          </a:xfrm>
          <a:prstGeom prst="rect">
            <a:avLst/>
          </a:prstGeom>
          <a:solidFill>
            <a:srgbClr val="FEE2E2"/>
          </a:solidFill>
          <a:ln w="10160">
            <a:solidFill>
              <a:srgbClr val="EF444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2240280"/>
            <a:ext cx="45720" cy="8686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4773168" y="22951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</a:rPr>
              <a:t>D7 : Préventives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73168" y="258775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Empêcher récurrence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812280" y="2240280"/>
            <a:ext cx="2011680" cy="868680"/>
          </a:xfrm>
          <a:prstGeom prst="rect">
            <a:avLst/>
          </a:prstGeom>
          <a:solidFill>
            <a:srgbClr val="EDE9FE"/>
          </a:solidFill>
          <a:ln w="10160">
            <a:solidFill>
              <a:srgbClr val="8B5C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12280" y="2240280"/>
            <a:ext cx="45720" cy="868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6" name="Text 34"/>
          <p:cNvSpPr/>
          <p:nvPr/>
        </p:nvSpPr>
        <p:spPr>
          <a:xfrm>
            <a:off x="6922008" y="229514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5CF6"/>
                </a:solidFill>
              </a:rPr>
              <a:t>D8 : Capitaliser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22008" y="258775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Partager leçons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65760" y="3383280"/>
            <a:ext cx="8412480" cy="731520"/>
          </a:xfrm>
          <a:prstGeom prst="roundRect">
            <a:avLst>
              <a:gd name="adj" fmla="val 7500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343814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8912" y="3675888"/>
            <a:ext cx="8275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D1 : Équipe méca + élec + prod | D2 : Courroie rompue 3x en 1 mois | D3 : Installation temporaire | D4 : Tension + qualité courroie | D5-D7 : Nouveau type + plan maintenance | D8 : Standard tous transporteurs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2" name="Shape 40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10/20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3 · OUTILS TERRAIN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QQOQCCP — Comprendre avant d'agir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Méthode journalistique · 30 minutes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2029968" cy="1097280"/>
          </a:xfrm>
          <a:prstGeom prst="roundRect">
            <a:avLst>
              <a:gd name="adj" fmla="val 5833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307592"/>
            <a:ext cx="365760" cy="36576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3075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Q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325880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</a:rPr>
              <a:t>Qui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645920"/>
            <a:ext cx="186537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Équipe A · Shift matin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32888" y="1234440"/>
            <a:ext cx="2029968" cy="1097280"/>
          </a:xfrm>
          <a:prstGeom prst="roundRect">
            <a:avLst>
              <a:gd name="adj" fmla="val 5833"/>
            </a:avLst>
          </a:prstGeom>
          <a:solidFill>
            <a:srgbClr val="DBEAFE"/>
          </a:solidFill>
          <a:ln/>
        </p:spPr>
      </p:sp>
      <p:sp>
        <p:nvSpPr>
          <p:cNvPr id="12" name="Shape 10"/>
          <p:cNvSpPr/>
          <p:nvPr/>
        </p:nvSpPr>
        <p:spPr>
          <a:xfrm>
            <a:off x="2606040" y="1307592"/>
            <a:ext cx="365760" cy="36576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2606040" y="13075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35808" y="1325880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</a:rPr>
              <a:t>Quoi 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24328" y="1645920"/>
            <a:ext cx="186537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Vibration anormale broyeur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0016" y="1234440"/>
            <a:ext cx="2029968" cy="1097280"/>
          </a:xfrm>
          <a:prstGeom prst="roundRect">
            <a:avLst>
              <a:gd name="adj" fmla="val 583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4773168" y="1307592"/>
            <a:ext cx="365760" cy="36576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4773168" y="13075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02936" y="1325880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</a:rPr>
              <a:t>Où 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91456" y="1645920"/>
            <a:ext cx="186537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Broyeur BK3 · Palier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67144" y="1234440"/>
            <a:ext cx="2029968" cy="1097280"/>
          </a:xfrm>
          <a:prstGeom prst="roundRect">
            <a:avLst>
              <a:gd name="adj" fmla="val 5833"/>
            </a:avLst>
          </a:prstGeom>
          <a:solidFill>
            <a:srgbClr val="DBEAFE"/>
          </a:solidFill>
          <a:ln/>
        </p:spPr>
      </p:sp>
      <p:sp>
        <p:nvSpPr>
          <p:cNvPr id="22" name="Shape 20"/>
          <p:cNvSpPr/>
          <p:nvPr/>
        </p:nvSpPr>
        <p:spPr>
          <a:xfrm>
            <a:off x="6940296" y="1307592"/>
            <a:ext cx="365760" cy="36576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0296" y="13075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Q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70064" y="1325880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</a:rPr>
              <a:t>Quand 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58584" y="1645920"/>
            <a:ext cx="186537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Démarrage production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468880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DCFCE7"/>
          </a:solidFill>
          <a:ln/>
        </p:spPr>
      </p:sp>
      <p:sp>
        <p:nvSpPr>
          <p:cNvPr id="27" name="Shape 25"/>
          <p:cNvSpPr/>
          <p:nvPr/>
        </p:nvSpPr>
        <p:spPr>
          <a:xfrm>
            <a:off x="438912" y="2542032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8" name="Text 26"/>
          <p:cNvSpPr/>
          <p:nvPr/>
        </p:nvSpPr>
        <p:spPr>
          <a:xfrm>
            <a:off x="438912" y="25420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68680" y="25603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</a:rPr>
              <a:t>Comment 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2880360"/>
            <a:ext cx="25328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Vibration 12mm/s · Alarme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00400" y="2468880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DCFCE7"/>
          </a:solidFill>
          <a:ln/>
        </p:spPr>
      </p:sp>
      <p:sp>
        <p:nvSpPr>
          <p:cNvPr id="32" name="Shape 30"/>
          <p:cNvSpPr/>
          <p:nvPr/>
        </p:nvSpPr>
        <p:spPr>
          <a:xfrm>
            <a:off x="3273552" y="2542032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3" name="Text 31"/>
          <p:cNvSpPr/>
          <p:nvPr/>
        </p:nvSpPr>
        <p:spPr>
          <a:xfrm>
            <a:off x="3273552" y="25420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703320" y="25603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</a:rPr>
              <a:t>Combien 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91840" y="2880360"/>
            <a:ext cx="25328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3x/semaine · -2h/arrêt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35040" y="2468880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EE2E2"/>
          </a:solidFill>
          <a:ln/>
        </p:spPr>
      </p:sp>
      <p:sp>
        <p:nvSpPr>
          <p:cNvPr id="37" name="Shape 35"/>
          <p:cNvSpPr/>
          <p:nvPr/>
        </p:nvSpPr>
        <p:spPr>
          <a:xfrm>
            <a:off x="6108192" y="2542032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8" name="Text 36"/>
          <p:cNvSpPr/>
          <p:nvPr/>
        </p:nvSpPr>
        <p:spPr>
          <a:xfrm>
            <a:off x="6108192" y="25420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37960" y="25603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</a:rPr>
              <a:t>Pourquoi ?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26480" y="2880360"/>
            <a:ext cx="25328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Perte production 500t/an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2" name="Shape 40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11/20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3 · OUTILS TERRAIN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Pourquoi — Trouver la cause racine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Taiichi Ohno · Toyota 1950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15568"/>
            <a:ext cx="841248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170432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8912" y="1408176"/>
            <a:ext cx="8275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Moteur convoyeur L4 en panne → Arrêt ligne 4h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691640"/>
            <a:ext cx="292608" cy="292608"/>
          </a:xfrm>
          <a:prstGeom prst="ellipse">
            <a:avLst/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916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" y="1984248"/>
            <a:ext cx="9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CA5A5"/>
                </a:solidFill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1691640"/>
            <a:ext cx="8001000" cy="384048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171907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</a:rPr>
              <a:t>Pourquoi panne 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171907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→  Surchauffe moteur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167128"/>
            <a:ext cx="292608" cy="292608"/>
          </a:xfrm>
          <a:prstGeom prst="ellipse">
            <a:avLst/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1671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6344" y="2459736"/>
            <a:ext cx="9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CA5A5"/>
                </a:solidFill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2167128"/>
            <a:ext cx="8001000" cy="384048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194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</a:rPr>
              <a:t>Pourquoi surchauffe 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→  Ventilation encrassée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642616"/>
            <a:ext cx="292608" cy="292608"/>
          </a:xfrm>
          <a:prstGeom prst="ellipse">
            <a:avLst/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64261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344" y="2935224"/>
            <a:ext cx="9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CA5A5"/>
                </a:solidFill>
              </a:rPr>
              <a:t>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2642616"/>
            <a:ext cx="8001000" cy="384048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2670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</a:rPr>
              <a:t>Pourquoi encrassée ?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00400" y="26700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→  Filtre absent depuis 3 mois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118104"/>
            <a:ext cx="292608" cy="292608"/>
          </a:xfrm>
          <a:prstGeom prst="ellipse">
            <a:avLst/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1181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6344" y="3410712"/>
            <a:ext cx="91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CA5A5"/>
                </a:solidFill>
              </a:rPr>
              <a:t>↓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3118104"/>
            <a:ext cx="8001000" cy="384048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3145536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</a:rPr>
              <a:t>Pourquoi absent ?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200400" y="3145536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→  Pas de plan maintenance préventive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3593592"/>
            <a:ext cx="292608" cy="292608"/>
          </a:xfrm>
          <a:prstGeom prst="ellipse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77240" y="3593592"/>
            <a:ext cx="8001000" cy="38404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" y="3621024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</a:rPr>
              <a:t>CAUSE RACINE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00400" y="3621024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→  Système de gestion maintenance préventive inexistant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9" name="Shape 37"/>
          <p:cNvSpPr/>
          <p:nvPr/>
        </p:nvSpPr>
        <p:spPr>
          <a:xfrm>
            <a:off x="365760" y="4206240"/>
            <a:ext cx="54864" cy="54864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40" name="Text 38"/>
          <p:cNvSpPr/>
          <p:nvPr/>
        </p:nvSpPr>
        <p:spPr>
          <a:xfrm>
            <a:off x="512064" y="423367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</a:rPr>
              <a:t>SOLUTION : Implémenter plan MP · GEMBA · Check-liste mensuelle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</a:rPr>
              <a:t>RÉSULTAT : 0 panne ventilation en 6 mois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2" name="Shape 40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12/20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3 · OUTILS TERRAIN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SMED — Réduire temps de changement d'outils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Single Minute Exchange of Die · Shigeo Shingo 1950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4846320" cy="237744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9844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280"/>
                </a:solidFill>
              </a:rPr>
              <a:t>PRINCIPE SMED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4663440" cy="685800"/>
          </a:xfrm>
          <a:prstGeom prst="rect">
            <a:avLst/>
          </a:prstGeom>
          <a:solidFill>
            <a:srgbClr val="FEE2E2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64208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1B1B"/>
                </a:solidFill>
              </a:rPr>
              <a:t>INTERNE (machine arrêtée)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9202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Démontage · Nettoyage · Installation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230428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7A6A"/>
                </a:solidFill>
              </a:rPr>
              <a:t>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7A6A"/>
                </a:solidFill>
              </a:rPr>
              <a:t>Transformer en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46888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7A6A"/>
                </a:solidFill>
              </a:rPr>
              <a:t>EXTERNE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4663440" cy="685800"/>
          </a:xfrm>
          <a:prstGeom prst="rect">
            <a:avLst/>
          </a:prstGeom>
          <a:solidFill>
            <a:srgbClr val="DCFCE7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761488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</a:rPr>
              <a:t>EXTERNE (machine en marche)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01752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Préparer outils · Préchauffer · À portée main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1234440"/>
            <a:ext cx="3291840" cy="2377440"/>
          </a:xfrm>
          <a:prstGeom prst="roundRect">
            <a:avLst>
              <a:gd name="adj" fmla="val 2308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59552" y="1289304"/>
            <a:ext cx="3154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559552" y="1527048"/>
            <a:ext cx="3154680" cy="2029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Changement mâles concasseur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Avant : 4h 30min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Après : 2h 15min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Gain : -50% · 2h/fois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Actions : Chariot outils + Check-list + Préparation shift avant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21" name="Shape 19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13/20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3 · OUTILS TERRAIN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 — Générer des solutions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4 formats adaptés terrain maintenance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3258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CLASSIQUE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5819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6-10 pers · 20-40 min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8745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Réunion équipe · Animateur · Tableau blanc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12080" y="13258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STAND-UP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0" y="15819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5-8 pers · 10-15 min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12080" y="18745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Debout · Rapide · 1 problème unique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606040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" y="2697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✍️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4400" y="26974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BRAIN WRITING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6 pers · 30 min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32461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Chacun écrit 3 idées · Passe feuille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63440" y="2606040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18304" y="2697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212080" y="26974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SOLO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12080" y="29535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1 pers · 15 min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212080" y="32461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Seul · Note TOUS les gaspillages vus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3931920"/>
            <a:ext cx="841248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398678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38912" y="4224528"/>
            <a:ext cx="8275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Brainstorming SOLO : Technicien note 12 gaspillages pendant son shift → Best : Détection précoce 3 pannes évitées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30" name="Shape 28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14/20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PARTIE 3 · OUTILS 2ÈME GÉNÉRATION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 · Management Visuel — Andon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Outils avancés pour terrain maintenance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4114800" cy="256032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34440"/>
            <a:ext cx="4114800" cy="256032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23444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5G — Les 5 Gemba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1480" y="1591056"/>
            <a:ext cx="201168" cy="201168"/>
          </a:xfrm>
          <a:prstGeom prst="ellipse">
            <a:avLst/>
          </a:prstGeom>
          <a:solidFill>
            <a:srgbClr val="0B7A6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57276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</a:rPr>
              <a:t>Gemba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" y="176479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Aller sur terrain atelier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1480" y="1975104"/>
            <a:ext cx="201168" cy="201168"/>
          </a:xfrm>
          <a:prstGeom prst="ellipse">
            <a:avLst/>
          </a:prstGeom>
          <a:solidFill>
            <a:srgbClr val="0B7A6A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195681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</a:rPr>
              <a:t>Gembutsu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" y="21488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Observer l'équipement réel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359152"/>
            <a:ext cx="201168" cy="201168"/>
          </a:xfrm>
          <a:prstGeom prst="ellipse">
            <a:avLst/>
          </a:prstGeom>
          <a:solidFill>
            <a:srgbClr val="0B7A6A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340864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</a:rPr>
              <a:t>Genjitsu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253288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Données réelles · MES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" y="2743200"/>
            <a:ext cx="201168" cy="201168"/>
          </a:xfrm>
          <a:prstGeom prst="ellipse">
            <a:avLst/>
          </a:prstGeom>
          <a:solidFill>
            <a:srgbClr val="0B7A6A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72491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</a:rPr>
              <a:t>Genri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291693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Principes ingénierie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" y="3127248"/>
            <a:ext cx="201168" cy="201168"/>
          </a:xfrm>
          <a:prstGeom prst="ellipse">
            <a:avLst/>
          </a:prstGeom>
          <a:solidFill>
            <a:srgbClr val="0B7A6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108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</a:rPr>
              <a:t>Genba Walk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3300984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15 min/jour · 3 MUDA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234440"/>
            <a:ext cx="4114800" cy="256032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3440" y="1234440"/>
            <a:ext cx="4114800" cy="25603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6" name="Text 24"/>
          <p:cNvSpPr/>
          <p:nvPr/>
        </p:nvSpPr>
        <p:spPr>
          <a:xfrm>
            <a:off x="4718304" y="123444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ANDON — Management Visuel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18304" y="15544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Rendre l'état visible immédiatement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18304" y="1874520"/>
            <a:ext cx="347472" cy="34747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9" name="Text 27"/>
          <p:cNvSpPr/>
          <p:nvPr/>
        </p:nvSpPr>
        <p:spPr>
          <a:xfrm>
            <a:off x="5166360" y="18745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C55E"/>
                </a:solidFill>
              </a:rPr>
              <a:t>VERT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207568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Équipement OK · Production normale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18304" y="2423160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2" name="Text 30"/>
          <p:cNvSpPr/>
          <p:nvPr/>
        </p:nvSpPr>
        <p:spPr>
          <a:xfrm>
            <a:off x="5166360" y="24231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ORANGE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66360" y="262432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Vigilance · Planifié maintenance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18304" y="2971800"/>
            <a:ext cx="347472" cy="347472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5" name="Text 33"/>
          <p:cNvSpPr/>
          <p:nvPr/>
        </p:nvSpPr>
        <p:spPr>
          <a:xfrm>
            <a:off x="5166360" y="2971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</a:rPr>
              <a:t>ROUGE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317296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</a:rPr>
              <a:t>Panne · Action immédiate requise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5760" y="3931920"/>
            <a:ext cx="841248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" y="398678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8912" y="4224528"/>
            <a:ext cx="8275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Tableau ANDON salle contrôle : 20 équipements · Vert/Orange/Rouge visible de loin · Temps réaction panne -40%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1" name="Shape 39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15/20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VOTRE RÔLE DE RESPONSABLE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attend de vous — concrètement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Responsables maintenance · Chefs d'équipe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34440"/>
            <a:ext cx="4114800" cy="2560320"/>
          </a:xfrm>
          <a:prstGeom prst="rect">
            <a:avLst/>
          </a:prstGeom>
          <a:solidFill>
            <a:srgbClr val="EFF6FF"/>
          </a:solidFill>
          <a:ln w="19050">
            <a:solidFill>
              <a:srgbClr val="1E6F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34440"/>
            <a:ext cx="4114800" cy="2743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CE QUE VOUS FAITES — chaque semaine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201168" cy="20116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6002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158191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Gemba Walk 15 min/jour — noter 3 MUDA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947672"/>
            <a:ext cx="201168" cy="20116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94767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1929384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Exiger QQOQCCP + 5 Pourquoi pour panne récurrente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295144"/>
            <a:ext cx="201168" cy="20116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29514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2276856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Valider 1 KAIZEN/semaine/équipe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642616"/>
            <a:ext cx="201168" cy="20116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64261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262432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Tenir tableau de bord ANDON à jour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2990088"/>
            <a:ext cx="201168" cy="20116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99008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" y="2971800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Appliquer PDCA sur problème récurrent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234440"/>
            <a:ext cx="4114800" cy="25603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4663440" y="1234440"/>
            <a:ext cx="4114800" cy="27432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CE QUE VOUS EXIGEZ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54880" y="1600200"/>
            <a:ext cx="3886200" cy="347472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162763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6534"/>
                </a:solidFill>
              </a:rPr>
              <a:t>✅ Identifier 3 MUDA/jour/technicien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2011680"/>
            <a:ext cx="3886200" cy="347472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20391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6534"/>
                </a:solidFill>
              </a:rPr>
              <a:t>✅ Proposer 1 solution/connexion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2423160"/>
            <a:ext cx="3886200" cy="347472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24505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66534"/>
                </a:solidFill>
              </a:rPr>
              <a:t>✅ Suivre les standards établis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2834640"/>
            <a:ext cx="3886200" cy="34747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28620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1B1B"/>
                </a:solidFill>
              </a:rPr>
              <a:t>❌ Accepter 'c'est comme ça'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3246120"/>
            <a:ext cx="3886200" cy="34747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32735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1B1B"/>
                </a:solidFill>
              </a:rPr>
              <a:t>❌ Refaire le travail des techniciens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5760" y="3931920"/>
            <a:ext cx="841248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" y="398678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8912" y="4224528"/>
            <a:ext cx="8275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Équipe autonome · -40% pannes récurrentes · Vous passez de pompier à leader · Données pour justifier budgets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449919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1" name="Shape 39"/>
          <p:cNvSpPr/>
          <p:nvPr/>
        </p:nvSpPr>
        <p:spPr>
          <a:xfrm>
            <a:off x="182880" y="459063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182880" y="463635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05840" y="470035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412480" y="470035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16/20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0" y="448090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PLAN D'ACTION MAINTENANCE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éliminer 15 gaspillages par semaine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Plan concret · Outils · Gains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7280"/>
                </a:solidFill>
              </a:rPr>
              <a:t>LES 5 ÉTAPES — DÈS LUNDI PROCHAIN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1444752"/>
            <a:ext cx="1600200" cy="2377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444752"/>
            <a:ext cx="1600200" cy="347472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44475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LUN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0624" y="184708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0000"/>
                </a:solidFill>
              </a:rPr>
              <a:t>5G · Gemba Walk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2194560"/>
            <a:ext cx="1490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15 min terrain · Noter 3 MUDA observés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5760" y="3246120"/>
            <a:ext cx="1600200" cy="4572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Text 11"/>
          <p:cNvSpPr/>
          <p:nvPr/>
        </p:nvSpPr>
        <p:spPr>
          <a:xfrm>
            <a:off x="402336" y="3264408"/>
            <a:ext cx="15270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</a:rPr>
              <a:t>3 MUDA identifiés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84832" y="1444752"/>
            <a:ext cx="1600200" cy="2377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84832" y="1444752"/>
            <a:ext cx="1600200" cy="347472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16" name="Text 14"/>
          <p:cNvSpPr/>
          <p:nvPr/>
        </p:nvSpPr>
        <p:spPr>
          <a:xfrm>
            <a:off x="2084832" y="144475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39696" y="184708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0000"/>
                </a:solidFill>
              </a:rPr>
              <a:t>QQOQCCP + 5 Pourquoi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490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30 min sur MUDA le + critique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84832" y="3246120"/>
            <a:ext cx="1600200" cy="4572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0" name="Text 18"/>
          <p:cNvSpPr/>
          <p:nvPr/>
        </p:nvSpPr>
        <p:spPr>
          <a:xfrm>
            <a:off x="2121408" y="3264408"/>
            <a:ext cx="15270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40AF"/>
                </a:solidFill>
              </a:rPr>
              <a:t>Cause racine trouvée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03904" y="1444752"/>
            <a:ext cx="1600200" cy="2377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03904" y="1444752"/>
            <a:ext cx="1600200" cy="347472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23" name="Text 21"/>
          <p:cNvSpPr/>
          <p:nvPr/>
        </p:nvSpPr>
        <p:spPr>
          <a:xfrm>
            <a:off x="3803904" y="144475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58768" y="184708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0000"/>
                </a:solidFill>
              </a:rPr>
              <a:t>Brainstorming Stand-up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58768" y="2194560"/>
            <a:ext cx="1490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10 min · Équipe propose solutions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803904" y="3246120"/>
            <a:ext cx="1600200" cy="457200"/>
          </a:xfrm>
          <a:prstGeom prst="rect">
            <a:avLst/>
          </a:prstGeom>
          <a:solidFill>
            <a:srgbClr val="EDE9FE"/>
          </a:solidFill>
          <a:ln/>
        </p:spPr>
      </p:sp>
      <p:sp>
        <p:nvSpPr>
          <p:cNvPr id="27" name="Text 25"/>
          <p:cNvSpPr/>
          <p:nvPr/>
        </p:nvSpPr>
        <p:spPr>
          <a:xfrm>
            <a:off x="3840480" y="3264408"/>
            <a:ext cx="15270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21B6"/>
                </a:solidFill>
              </a:rPr>
              <a:t>Solution choisie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22976" y="1444752"/>
            <a:ext cx="1600200" cy="2377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22976" y="1444752"/>
            <a:ext cx="1600200" cy="347472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30" name="Text 28"/>
          <p:cNvSpPr/>
          <p:nvPr/>
        </p:nvSpPr>
        <p:spPr>
          <a:xfrm>
            <a:off x="5522976" y="144475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JEU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77840" y="184708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0000"/>
                </a:solidFill>
              </a:rPr>
              <a:t>PDCA — Do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2194560"/>
            <a:ext cx="1490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Tester solution · Mesurer avant/après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522976" y="3246120"/>
            <a:ext cx="1600200" cy="4572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4" name="Text 32"/>
          <p:cNvSpPr/>
          <p:nvPr/>
        </p:nvSpPr>
        <p:spPr>
          <a:xfrm>
            <a:off x="5559552" y="3264408"/>
            <a:ext cx="15270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2400E"/>
                </a:solidFill>
              </a:rPr>
              <a:t>Résultat mesuré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242048" y="1444752"/>
            <a:ext cx="1600200" cy="2377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2048" y="1444752"/>
            <a:ext cx="1600200" cy="347472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37" name="Text 35"/>
          <p:cNvSpPr/>
          <p:nvPr/>
        </p:nvSpPr>
        <p:spPr>
          <a:xfrm>
            <a:off x="7242048" y="144475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VEN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296912" y="184708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0000"/>
                </a:solidFill>
              </a:rPr>
              <a:t>Mgmt Visuel + Act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296912" y="2194560"/>
            <a:ext cx="1490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Standardiser si succès · Partager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242048" y="3246120"/>
            <a:ext cx="1600200" cy="4572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1" name="Text 39"/>
          <p:cNvSpPr/>
          <p:nvPr/>
        </p:nvSpPr>
        <p:spPr>
          <a:xfrm>
            <a:off x="7278624" y="3264408"/>
            <a:ext cx="15270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</a:rPr>
              <a:t>Standard diffusé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5760" y="3977640"/>
            <a:ext cx="8412480" cy="4114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3" name="Text 41"/>
          <p:cNvSpPr/>
          <p:nvPr/>
        </p:nvSpPr>
        <p:spPr>
          <a:xfrm>
            <a:off x="457200" y="4014216"/>
            <a:ext cx="82296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📊 1 équipe × 3 MUDA/semaine × 50 sem = 750 MUDA/an → 3-5 semaines de travail gagnées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17/20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CONCLUSION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gagnez réellement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Résultats mesurés OCP + industrie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07008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F3F4F6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207008"/>
            <a:ext cx="54864" cy="1188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9844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82F6"/>
                </a:solidFill>
              </a:rPr>
              <a:t>-40%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89280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Pannes récurrentes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03120" y="1316736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En 6 mois avec PDCA + 5P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207008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207008"/>
            <a:ext cx="54864" cy="1188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29844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C55E"/>
                </a:solidFill>
              </a:rPr>
              <a:t>+2h/j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846320" y="189280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Disponibilité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1316736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Par équipement · Sans investissement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5760" y="2578608"/>
            <a:ext cx="54864" cy="1188720"/>
          </a:xfrm>
          <a:prstGeom prst="rect">
            <a:avLst/>
          </a:prstGeom>
          <a:solidFill>
            <a:srgbClr val="0B7A6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7004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7A6A"/>
                </a:solidFill>
              </a:rPr>
              <a:t>-50%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548640" y="326440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Temps d'intervention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03120" y="2688336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Avec SMED + Organisation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63440" y="2578608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F3F4F6"/>
          </a:solidFill>
          <a:ln/>
        </p:spPr>
      </p:sp>
      <p:sp>
        <p:nvSpPr>
          <p:cNvPr id="22" name="Shape 20"/>
          <p:cNvSpPr/>
          <p:nvPr/>
        </p:nvSpPr>
        <p:spPr>
          <a:xfrm>
            <a:off x="4663440" y="2578608"/>
            <a:ext cx="54864" cy="1188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267004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9E0B"/>
                </a:solidFill>
              </a:rPr>
              <a:t>0 Dh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4846320" y="326440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Pour commencer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2688336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</a:rPr>
              <a:t>Juste votre regard · 15 min/jour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4023360"/>
            <a:ext cx="841248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4078224"/>
            <a:ext cx="8275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2400E"/>
                </a:solidFill>
              </a:rPr>
              <a:t>🏭 EXEMPLE OCP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38912" y="4315968"/>
            <a:ext cx="8275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</a:rPr>
              <a:t>1ère semaine : Identifier MUDA | 1er mois : Premiers résultats | 3 mois : Équipe autonome | 6 mois : -40% pannes récurrentes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30" name="Shape 28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18/20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7280"/>
                </a:solidFill>
              </a:rPr>
              <a:t>ANNEXE — MÉMO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 outils terrain — À emporter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84124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2011680" cy="6858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28930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</a:rPr>
              <a:t>PDCA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38912" y="15270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Amélioration quotidienne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8912" y="1719072"/>
            <a:ext cx="18288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Cycle 1 semaine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2011680" cy="6858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87752" y="128930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</a:rPr>
              <a:t>QQOQCCP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87752" y="15270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Définir problème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587752" y="1719072"/>
            <a:ext cx="18288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30 min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2011680" cy="6858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128930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</a:rPr>
              <a:t>5 Pourquoi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36592" y="15270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Cause racine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36592" y="1719072"/>
            <a:ext cx="18288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15 min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812280" y="1234440"/>
            <a:ext cx="2011680" cy="6858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85432" y="128930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</a:rPr>
              <a:t>SMED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85432" y="15270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Réduire temps changement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85432" y="1719072"/>
            <a:ext cx="18288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Projet 1 mois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2011680" cy="6858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" y="215798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</a:rPr>
              <a:t>Brainstorming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8912" y="23957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Générer solutions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38912" y="2587752"/>
            <a:ext cx="18288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10-40 min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14600" y="2103120"/>
            <a:ext cx="2011680" cy="6858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87752" y="215798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</a:rPr>
              <a:t>5G/Andon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87752" y="23957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Management visuel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587752" y="2587752"/>
            <a:ext cx="18288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15 min/jour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2103120"/>
            <a:ext cx="2011680" cy="6858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36592" y="215798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</a:rPr>
              <a:t>8D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36592" y="23957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Incident grave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36592" y="2587752"/>
            <a:ext cx="18288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3j-2sem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12280" y="2103120"/>
            <a:ext cx="2011680" cy="6858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215798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</a:rPr>
              <a:t>DMAIC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885432" y="23957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</a:rPr>
              <a:t>Projet complexe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85432" y="2587752"/>
            <a:ext cx="18288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</a:rPr>
              <a:t>1-3 mois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65760" y="3017520"/>
            <a:ext cx="8412480" cy="1645920"/>
          </a:xfrm>
          <a:prstGeom prst="roundRect">
            <a:avLst>
              <a:gd name="adj" fmla="val 4444"/>
            </a:avLst>
          </a:prstGeom>
          <a:solidFill>
            <a:srgbClr val="FEF3C7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309067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2400E"/>
                </a:solidFill>
              </a:rPr>
              <a:t>📋 CHECK-LIST DÉBUT SHIFT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33832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□ Gemba Walk 15 min — Noter 3 MUDA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37033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□ Vérifier ANDON — Planifier actions ROUGES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864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□ Briefing équipe — QQOQCCP sur problème du jour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48640" y="43434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</a:rPr>
              <a:t>□ Valider 1 amélioration KAIZEN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44" name="Shape 42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19/20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4B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274320"/>
            <a:ext cx="12801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0" y="3657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4B87"/>
                </a:solidFill>
              </a:rPr>
              <a:t>OCP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"Lean Maintenance : Un voyage, pas une destination."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3C5FD"/>
                </a:solidFill>
              </a:rPr>
              <a:t>Commencez petit · Commencez maintenant · Capitalisez toujours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8229600" cy="0"/>
          </a:xfrm>
          <a:prstGeom prst="line">
            <a:avLst/>
          </a:prstGeom>
          <a:noFill/>
          <a:ln w="12700">
            <a:solidFill>
              <a:srgbClr val="0060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00386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</a:rPr>
              <a:t>LUNDI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45059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Gemba Walk 15 min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003866"/>
          </a:solidFill>
          <a:ln/>
        </p:spPr>
      </p:sp>
      <p:sp>
        <p:nvSpPr>
          <p:cNvPr id="11" name="Text 9"/>
          <p:cNvSpPr/>
          <p:nvPr/>
        </p:nvSpPr>
        <p:spPr>
          <a:xfrm>
            <a:off x="219456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</a:rPr>
              <a:t>MARDI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45059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Premier 5 Pourquoi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192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003866"/>
          </a:solidFill>
          <a:ln/>
        </p:spPr>
      </p:sp>
      <p:sp>
        <p:nvSpPr>
          <p:cNvPr id="14" name="Text 12"/>
          <p:cNvSpPr/>
          <p:nvPr/>
        </p:nvSpPr>
        <p:spPr>
          <a:xfrm>
            <a:off x="393192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</a:rPr>
              <a:t>MERCREDI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245059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Premier Brainstorming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003866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</a:rPr>
              <a:t>JEUDI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45059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Premier test PDCA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0664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003866"/>
          </a:solidFill>
          <a:ln/>
        </p:spPr>
      </p:sp>
      <p:sp>
        <p:nvSpPr>
          <p:cNvPr id="20" name="Text 18"/>
          <p:cNvSpPr/>
          <p:nvPr/>
        </p:nvSpPr>
        <p:spPr>
          <a:xfrm>
            <a:off x="740664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</a:rPr>
              <a:t>VENDREDI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06640" y="245059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Standardisation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FDBFE"/>
                </a:solidFill>
              </a:rPr>
              <a:t>Votre équipe vous attend. Les outils sont prêts. La première amélioration commence lundi.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DCFCE7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66534"/>
                </a:solidFill>
              </a:rPr>
              <a:t>📧 Contact : Direction Maintenance · service.lean@ocp.com · www.ocp.com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46320"/>
            <a:ext cx="9144000" cy="640080"/>
          </a:xfrm>
          <a:prstGeom prst="rect">
            <a:avLst/>
          </a:prstGeom>
          <a:solidFill>
            <a:srgbClr val="004B87"/>
          </a:solidFill>
          <a:ln/>
        </p:spPr>
      </p:sp>
      <p:sp>
        <p:nvSpPr>
          <p:cNvPr id="26" name="Shape 24"/>
          <p:cNvSpPr/>
          <p:nvPr/>
        </p:nvSpPr>
        <p:spPr>
          <a:xfrm>
            <a:off x="182880" y="49377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82880" y="4983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4B87"/>
                </a:solidFill>
              </a:rPr>
              <a:t>OCP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50474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Maintenance Lean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12480" y="50474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</a:rPr>
              <a:t>20/20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28032"/>
            <a:ext cx="9144000" cy="18288"/>
          </a:xfrm>
          <a:prstGeom prst="rect">
            <a:avLst/>
          </a:prstGeom>
          <a:solidFill>
            <a:srgbClr val="00A65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1823</Words>
  <Application>Microsoft Office PowerPoint</Application>
  <PresentationFormat>On-screen Show (16:9)</PresentationFormat>
  <Paragraphs>507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Lean Management - Maintenance OCP</dc:title>
  <dc:subject>PptxGenJS Presentation</dc:subject>
  <dc:creator>Formation KAIZEN - OCP</dc:creator>
  <cp:lastModifiedBy>Ahmed Youness CHAMROUK</cp:lastModifiedBy>
  <cp:revision>2</cp:revision>
  <dcterms:created xsi:type="dcterms:W3CDTF">2026-05-08T23:05:45Z</dcterms:created>
  <dcterms:modified xsi:type="dcterms:W3CDTF">2026-05-09T18:30:59Z</dcterms:modified>
</cp:coreProperties>
</file>