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B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457200" cy="4846320"/>
          </a:xfrm>
          <a:prstGeom prst="rect">
            <a:avLst/>
          </a:prstGeom>
          <a:solidFill>
            <a:srgbClr val="0060A0"/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0"/>
            <a:ext cx="457200" cy="4846320"/>
          </a:xfrm>
          <a:prstGeom prst="rect">
            <a:avLst/>
          </a:prstGeom>
          <a:solidFill>
            <a:srgbClr val="0060A0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0"/>
            <a:ext cx="457200" cy="4846320"/>
          </a:xfrm>
          <a:prstGeom prst="rect">
            <a:avLst/>
          </a:prstGeom>
          <a:solidFill>
            <a:srgbClr val="0060A0"/>
          </a:solidFill>
          <a:ln/>
        </p:spPr>
      </p:sp>
      <p:sp>
        <p:nvSpPr>
          <p:cNvPr id="5" name="Shape 3"/>
          <p:cNvSpPr/>
          <p:nvPr/>
        </p:nvSpPr>
        <p:spPr>
          <a:xfrm>
            <a:off x="5577840" y="0"/>
            <a:ext cx="457200" cy="4846320"/>
          </a:xfrm>
          <a:prstGeom prst="rect">
            <a:avLst/>
          </a:prstGeom>
          <a:solidFill>
            <a:srgbClr val="0060A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0"/>
            <a:ext cx="457200" cy="4846320"/>
          </a:xfrm>
          <a:prstGeom prst="rect">
            <a:avLst/>
          </a:prstGeom>
          <a:solidFill>
            <a:srgbClr val="0060A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2743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365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4B87"/>
                </a:solidFill>
              </a:rPr>
              <a:t>OCP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Lean &amp;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C5FD"/>
                </a:solidFill>
              </a:rPr>
              <a:t>Formation KAIZEN — Direction Maintenance OCP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7315200" cy="0"/>
          </a:xfrm>
          <a:prstGeom prst="line">
            <a:avLst/>
          </a:prstGeom>
          <a:noFill/>
          <a:ln w="25400">
            <a:solidFill>
              <a:srgbClr val="0060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0386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-40%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Pannes récurrentes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55848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03866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+2h/j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55848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Disponibilité équipement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4496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03866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0 Dh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54496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D'investissement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1/20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formation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La maintenance OCP : défis et opportunités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6FA8"/>
                </a:solidFill>
              </a:rPr>
              <a:t>COÛT CACHÉ EN MAINTENANCE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664208"/>
            <a:ext cx="16459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664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Visible — 20%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384048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20756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Ligne de flottaison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2240280"/>
            <a:ext cx="301752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402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Caché — 80%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Attentes pièces · Retouches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Déplacements inutiles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984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Problèmes réels maintenance OCP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627632"/>
            <a:ext cx="54864" cy="274320"/>
          </a:xfrm>
          <a:prstGeom prst="rect">
            <a:avLst/>
          </a:prstGeom>
          <a:solidFill>
            <a:srgbClr val="E31C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Panne concasseur → revient chaque semaine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039112"/>
            <a:ext cx="54864" cy="274320"/>
          </a:xfrm>
          <a:prstGeom prst="rect">
            <a:avLst/>
          </a:prstGeom>
          <a:solidFill>
            <a:srgbClr val="E31C2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Technicien attend 2h la pièce de rechange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50592"/>
            <a:ext cx="54864" cy="274320"/>
          </a:xfrm>
          <a:prstGeom prst="rect">
            <a:avLst/>
          </a:prstGeom>
          <a:solidFill>
            <a:srgbClr val="E31C2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3 équipes différentes pour le même problème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62072"/>
            <a:ext cx="54864" cy="274320"/>
          </a:xfrm>
          <a:prstGeom prst="rect">
            <a:avLst/>
          </a:prstGeom>
          <a:solidFill>
            <a:srgbClr val="E31C23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Rapport d'intervention jamais consulté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273552"/>
            <a:ext cx="54864" cy="274320"/>
          </a:xfrm>
          <a:prstGeom prst="rect">
            <a:avLst/>
          </a:prstGeom>
          <a:solidFill>
            <a:srgbClr val="E31C23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Stock pièces éparpillé sur 3 sites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840480"/>
            <a:ext cx="54864" cy="548640"/>
          </a:xfrm>
          <a:prstGeom prst="rect">
            <a:avLst/>
          </a:prstGeom>
          <a:solidFill>
            <a:srgbClr val="E31C23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770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Coût caché = 30% du temps maintenance → Potential de gain : 500h/an/atelier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2/20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INTRODUCTION · PROBLÉMATIQUE MAINTENANCE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cercle vicieux de la maintenance réactive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Panne concasseur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188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Réparation rapide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1960" y="1188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Panne revient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188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3E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21A8"/>
                </a:solidFill>
              </a:rPr>
              <a:t>Stress équipe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1572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</a:rPr>
              <a:t>↓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ECAC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1D1D"/>
                </a:solidFill>
              </a:rPr>
              <a:t>Équipe fatiguée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6888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DE68A"/>
          </a:solidFill>
          <a:ln/>
        </p:spPr>
      </p:sp>
      <p:sp>
        <p:nvSpPr>
          <p:cNvPr id="21" name="Text 19"/>
          <p:cNvSpPr/>
          <p:nvPr/>
        </p:nvSpPr>
        <p:spPr>
          <a:xfrm>
            <a:off x="246888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</a:rPr>
              <a:t>Panne grave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BBF7D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Morale dégradée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7512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CA5A5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Turnover 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6974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275234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2990088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Concasseur BW1 : panne moteur traitée 3 fois en 2 semaines → Coût total = 8h + 20k Dh de pièces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93008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493008"/>
            <a:ext cx="54864" cy="868680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" y="35844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6A"/>
                </a:solidFill>
              </a:rPr>
              <a:t>✓ Avec KAIZEN : Analyse racine → Action corrective → Standard → Plus jamais ce problème.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3/20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1 · LEAN THINKING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Lean Management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Appliqué à la maintenance OCP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685800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298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6A"/>
                </a:solidFill>
              </a:rPr>
              <a:t>Objectif Maintenance : Maximiser la disponibilité équipement en éliminant les pertes.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LES 5 PRINCIPES APPLIQUÉS À LA MAINTENANCE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Valeur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84832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2084832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Flux valeur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03904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Flux continu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66944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5522976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Flux tiré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86016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42048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/>
        </p:spPr>
      </p:sp>
      <p:sp>
        <p:nvSpPr>
          <p:cNvPr id="23" name="Text 21"/>
          <p:cNvSpPr/>
          <p:nvPr/>
        </p:nvSpPr>
        <p:spPr>
          <a:xfrm>
            <a:off x="7242048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1239"/>
                </a:solidFill>
              </a:rPr>
              <a:t>Perfection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93522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3172968"/>
            <a:ext cx="8275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VA = Réparer · Tester · Optimiser | NVA = Chercher pièces · Attendre · Compléter papier inutile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</a:rPr>
              <a:t>-35%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6576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Temps arrêt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87168" y="3749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2487168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-25%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2487168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Coûts maintenance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08576" y="3749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4608576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-60%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608576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Pannes récurrentes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9984" y="3749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6729984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+30%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729984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MTBF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4/20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1 · PRIORITÉ KAIZEN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— Notre priorité absolue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改善 · Amélioration continue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120640" cy="256032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2560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534"/>
                </a:solidFill>
              </a:rPr>
              <a:t>KAIZEN EN MAINTENANCE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727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</a:rPr>
              <a:t>RECOMMANDÉ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Petites améliorations quotidiennes par toute l'équipe maintenance.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04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29514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Observer : Noter 3 gaspillages/shift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64261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Analyser : 5 Pourquoi en équipe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99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9900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Améliorer : Tester cette semaine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4670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46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3375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Standardiser : Partager avec autres équipes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1234440"/>
            <a:ext cx="3108960" cy="2560320"/>
          </a:xfrm>
          <a:prstGeom prst="roundRect">
            <a:avLst>
              <a:gd name="adj" fmla="val 2143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2893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42432" y="1527048"/>
            <a:ext cx="29718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Charriot d'outillage mobile → -15min/intervention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Gain : 75h/an sur broyeur cru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Coût : 5000 Dh | ROI : 1 mois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5/20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1 · VALEUR AJOUTÉE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/ NVA — Ce que le client paie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Analyse d'une intervention maintenance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RÉPARTITION TEMPS INTERVENTION CONCASSEUR (8h)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828800" cy="3200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 2.5h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417320"/>
            <a:ext cx="182880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NVA nécessaire 1.5h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0" y="1417320"/>
            <a:ext cx="475488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GASPILLAGE 4h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74520"/>
            <a:ext cx="269748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8745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 CLIENT PAIE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VA — RÉPARATION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4140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Diagnostic · Réparation · 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18745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1874520"/>
            <a:ext cx="269748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218688" y="18745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OBLIGATOIRE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1840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NVA NÉCESSAIRE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4140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Consignation · EPI · Permis feu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71616" y="18745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1874520"/>
            <a:ext cx="269748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071616" y="18745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À ÉLIMINER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44768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GASPILLAGE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24140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Chercher pièce · Attendre · Compléter papers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57530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3813048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Réduire gaspillage de 4h → 2h = 2h gagnées/intervention = 25% de capacité supplémentaire SANS recrutement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6/20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1 · LES 7 MUDA MAINTENANCE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gaspillages à éliminer en maintenance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MUDA = 無駄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2710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SURPRODUCTION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4904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Rapports non lus · Stocks pièces excessifs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53512" y="12710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ATTENTE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53512" y="14904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Technicien attend pièce · Attente autorisation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02352" y="12710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TRANSPORT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02352" y="14904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Pièces stock loin · Allers-retours magasin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12344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51192" y="127101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TRAITEMENT EXCESSIF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51192" y="14904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Rapports trop détaillés · 3 validations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4672" y="213969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STOCKS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23591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Pièces qui dorment · Obsolescence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210312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🚶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953512" y="213969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MOUVEMENTS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53512" y="23591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Chercher outillage · Déplacements inutiles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10312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02352" y="213969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DÉFAUTS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23591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Reprise · Retouche · Mauvais diagnostic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210312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51192" y="213969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TALENT IGNORÉ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51192" y="23591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Idées terrain non écoutées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0175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07238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" y="3310128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Atelier LK3 : 3h/jour perdues en attentes pièces → Solution : Bac pièces critique près ligne → Gain : 750h/an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7/20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2 · MÉTHODES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— La roue de l'amélioration continue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W. Edwards Deming 1950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32588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Définir l'objectif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Analyser causes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1325880"/>
            <a:ext cx="640080" cy="64008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3" name="Text 11"/>
          <p:cNvSpPr/>
          <p:nvPr/>
        </p:nvSpPr>
        <p:spPr>
          <a:xfrm>
            <a:off x="3127248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Tester solution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Périmètre limité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48656" y="1325880"/>
            <a:ext cx="640080" cy="64008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" name="Text 16"/>
          <p:cNvSpPr/>
          <p:nvPr/>
        </p:nvSpPr>
        <p:spPr>
          <a:xfrm>
            <a:off x="5248656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08576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Check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Mesurer résultats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Analyser écarts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1325880"/>
            <a:ext cx="640080" cy="64008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9984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1424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Standardiser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Capitaliser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57530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" y="3813048"/>
            <a:ext cx="8275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 : Arrêt 4h/semaine → Objectif : 1h · Causes : capteur HS + délai pièces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 : Stock capteur de secours + Formation équipe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 : Arrêt tombé à 0.8h/semaine (-80%)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 : Standard appliqué à toutes les lignes LK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8/20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2 · MÉTHODES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 — Pour problèmes complexes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Six Sigma · Motorola 1986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572768" cy="1828800"/>
          </a:xfrm>
          <a:prstGeom prst="roundRect">
            <a:avLst>
              <a:gd name="adj" fmla="val 407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98448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Définir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240280"/>
            <a:ext cx="1435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Charte projet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QQOQCCP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39112" y="1234440"/>
            <a:ext cx="1572768" cy="1828800"/>
          </a:xfrm>
          <a:prstGeom prst="roundRect">
            <a:avLst>
              <a:gd name="adj" fmla="val 4070"/>
            </a:avLst>
          </a:prstGeom>
          <a:solidFill>
            <a:srgbClr val="DCFCE7"/>
          </a:solidFill>
          <a:ln/>
        </p:spPr>
      </p:sp>
      <p:sp>
        <p:nvSpPr>
          <p:cNvPr id="12" name="Shape 10"/>
          <p:cNvSpPr/>
          <p:nvPr/>
        </p:nvSpPr>
        <p:spPr>
          <a:xfrm>
            <a:off x="2496312" y="1298448"/>
            <a:ext cx="640080" cy="64008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39112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Mesurer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12264" y="2240280"/>
            <a:ext cx="1435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Collecter données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Baseline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58184" y="1234440"/>
            <a:ext cx="1572768" cy="1828800"/>
          </a:xfrm>
          <a:prstGeom prst="roundRect">
            <a:avLst>
              <a:gd name="adj" fmla="val 4070"/>
            </a:avLst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4215384" y="1298448"/>
            <a:ext cx="640080" cy="64008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" name="Text 16"/>
          <p:cNvSpPr/>
          <p:nvPr/>
        </p:nvSpPr>
        <p:spPr>
          <a:xfrm>
            <a:off x="4215384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58184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Analyser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31336" y="2240280"/>
            <a:ext cx="1435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5 Pourquoi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Ishikawa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77256" y="1234440"/>
            <a:ext cx="1572768" cy="1828800"/>
          </a:xfrm>
          <a:prstGeom prst="roundRect">
            <a:avLst>
              <a:gd name="adj" fmla="val 4070"/>
            </a:avLst>
          </a:prstGeom>
          <a:solidFill>
            <a:srgbClr val="EDE9F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4456" y="1298448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3" name="Text 21"/>
          <p:cNvSpPr/>
          <p:nvPr/>
        </p:nvSpPr>
        <p:spPr>
          <a:xfrm>
            <a:off x="5934456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77256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Améliorer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50408" y="2240280"/>
            <a:ext cx="1435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1B6"/>
                </a:solidFill>
              </a:rPr>
              <a:t>Solutions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21B6"/>
                </a:solidFill>
              </a:rPr>
              <a:t>Pilotes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96328" y="1234440"/>
            <a:ext cx="1572768" cy="1828800"/>
          </a:xfrm>
          <a:prstGeom prst="roundRect">
            <a:avLst>
              <a:gd name="adj" fmla="val 4070"/>
            </a:avLst>
          </a:prstGeom>
          <a:solidFill>
            <a:srgbClr val="FEE2E2"/>
          </a:solidFill>
          <a:ln/>
        </p:spPr>
      </p:sp>
      <p:sp>
        <p:nvSpPr>
          <p:cNvPr id="27" name="Shape 25"/>
          <p:cNvSpPr/>
          <p:nvPr/>
        </p:nvSpPr>
        <p:spPr>
          <a:xfrm>
            <a:off x="7653528" y="1298448"/>
            <a:ext cx="640080" cy="64008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8" name="Text 26"/>
          <p:cNvSpPr/>
          <p:nvPr/>
        </p:nvSpPr>
        <p:spPr>
          <a:xfrm>
            <a:off x="7653528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96328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Contrôler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2240280"/>
            <a:ext cx="1435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Mgmt visuel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Standards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20040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25526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3493008"/>
            <a:ext cx="8275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Durée : 3 mois · Équipe : 5 personnes · Gain : 2 MDh/an · Méthode : DMAIC complet avec données analyse SPC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9/20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2 · MÉTHODES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— Résolution incidents graves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Ford Motor Company 1987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011680" cy="868680"/>
          </a:xfrm>
          <a:prstGeom prst="rect">
            <a:avLst/>
          </a:prstGeom>
          <a:solidFill>
            <a:srgbClr val="DBEAF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572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289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D1 : Équipe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5819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Multidisciplinaire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2011680" cy="868680"/>
          </a:xfrm>
          <a:prstGeom prst="rect">
            <a:avLst/>
          </a:prstGeom>
          <a:solidFill>
            <a:srgbClr val="DBEAF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234440"/>
            <a:ext cx="4572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24328" y="1289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D2 : Définir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24328" y="15819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Description précise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2011680" cy="868680"/>
          </a:xfrm>
          <a:prstGeom prst="rect">
            <a:avLst/>
          </a:prstGeom>
          <a:solidFill>
            <a:srgbClr val="DCFCE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34440"/>
            <a:ext cx="45720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289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D3 : Action immédiate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5819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Stopper l'hémorragie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1234440"/>
            <a:ext cx="2011680" cy="868680"/>
          </a:xfrm>
          <a:prstGeom prst="rect">
            <a:avLst/>
          </a:prstGeom>
          <a:solidFill>
            <a:srgbClr val="DCFCE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234440"/>
            <a:ext cx="45720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922008" y="1289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D4 : Causes racines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22008" y="15819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5 Pourquoi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2011680" cy="86868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240280"/>
            <a:ext cx="4572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2295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D5 : Solutions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" y="25877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Impact vs faisabilité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14600" y="2240280"/>
            <a:ext cx="2011680" cy="86868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2240280"/>
            <a:ext cx="4572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2624328" y="2295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D6 : Implémenter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24328" y="25877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Plan · Responsables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2240280"/>
            <a:ext cx="2011680" cy="868680"/>
          </a:xfrm>
          <a:prstGeom prst="rect">
            <a:avLst/>
          </a:prstGeom>
          <a:solidFill>
            <a:srgbClr val="FEE2E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240280"/>
            <a:ext cx="4572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2295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D7 : Préventives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25877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Empêcher récurrence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12280" y="2240280"/>
            <a:ext cx="2011680" cy="868680"/>
          </a:xfrm>
          <a:prstGeom prst="rect">
            <a:avLst/>
          </a:prstGeom>
          <a:solidFill>
            <a:srgbClr val="EDE9F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12280" y="2240280"/>
            <a:ext cx="45720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922008" y="2295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D8 : Capitaliser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22008" y="25877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Partager leçons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338328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43814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" y="3675888"/>
            <a:ext cx="8275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D1 : Équipe méca + élec + prod | D2 : Courroie rompue 3x en 1 mois | D3 : Installation temporaire | D4 : Tension + qualité courroie | D5-D7 : Nouveau type + plan maintenance | D8 : Standard tous transporteurs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10/20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QQOQCCP — Comprendre avant d'agir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Méthode journalistique · 30 minutes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029968" cy="109728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3075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1435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Qui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Équipe A · Shift matin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32888" y="1234440"/>
            <a:ext cx="2029968" cy="109728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3075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35808" y="1325880"/>
            <a:ext cx="1435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Quoi 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24328" y="16459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Vibration anormale broyeur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0016" y="1234440"/>
            <a:ext cx="2029968" cy="109728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73168" y="13075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1325880"/>
            <a:ext cx="1435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Où 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16459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Broyeur BK3 · Palier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67144" y="1234440"/>
            <a:ext cx="2029968" cy="109728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0296" y="13075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6940296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70064" y="1325880"/>
            <a:ext cx="1435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Quand 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58584" y="16459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Démarrage production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468880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DCF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2542032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Comment 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880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Vibration 12mm/s · Alarme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2468880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DCFCE7"/>
          </a:solidFill>
          <a:ln/>
        </p:spPr>
      </p:sp>
      <p:sp>
        <p:nvSpPr>
          <p:cNvPr id="32" name="Shape 30"/>
          <p:cNvSpPr/>
          <p:nvPr/>
        </p:nvSpPr>
        <p:spPr>
          <a:xfrm>
            <a:off x="3273552" y="2542032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3273552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0332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Combien 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2880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3x/semaine · -2h/arrêt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2468880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EE2E2"/>
          </a:solidFill>
          <a:ln/>
        </p:spPr>
      </p:sp>
      <p:sp>
        <p:nvSpPr>
          <p:cNvPr id="37" name="Shape 35"/>
          <p:cNvSpPr/>
          <p:nvPr/>
        </p:nvSpPr>
        <p:spPr>
          <a:xfrm>
            <a:off x="6108192" y="2542032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6108192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3796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Pourquoi 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2880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Perte production 500t/an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11/20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Pourquoi — Trouver la cause racine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Taiichi Ohno · Toyota 1950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70432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408176"/>
            <a:ext cx="8275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Moteur convoyeur L4 en panne → Arrêt ligne 4h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292608" cy="29260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" y="1984248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691640"/>
            <a:ext cx="8001000" cy="38404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719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Pourquoi panne 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719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Surchauffe moteur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67128"/>
            <a:ext cx="292608" cy="29260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67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" y="2459736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2167128"/>
            <a:ext cx="8001000" cy="38404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Pourquoi surchauffe 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Ventilation encrassée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42616"/>
            <a:ext cx="292608" cy="29260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42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" y="2935224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2642616"/>
            <a:ext cx="8001000" cy="38404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Pourquoi encrassée 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2670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Filtre absent depuis 3 mois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118104"/>
            <a:ext cx="292608" cy="29260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" y="3410712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118104"/>
            <a:ext cx="8001000" cy="38404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1455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Pourquoi absent 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314553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Pas de plan maintenance préventive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593592"/>
            <a:ext cx="292608" cy="29260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3593592"/>
            <a:ext cx="800100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36210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CAUSE RACINE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36210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Système de gestion maintenance préventive inexistant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" y="4206240"/>
            <a:ext cx="54864" cy="5486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" y="4233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SOLUTION : Implémenter plan MP · GEMBA · Check-liste mensuelle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RÉSULTAT : 0 panne ventilation en 6 mois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12/20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 — Réduire temps de changement d'outils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Single Minute Exchange of Die · Shigeo Shingo 1950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846320" cy="23774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PRINCIPE SMED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663440" cy="68580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6420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INTERNE (machine arrêtée)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Démontage · Nettoyage · Installation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3042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7A6A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6A"/>
                </a:solidFill>
              </a:rPr>
              <a:t>Transformer 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6A"/>
                </a:solidFill>
              </a:rPr>
              <a:t>EXTERNE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663440" cy="68580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6148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EXTERNE (machine en marche)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Préparer outils · Préchauffer · À portée main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123444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59552" y="1527048"/>
            <a:ext cx="315468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Changement mâles concasseur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Avant : 4h 30min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Après : 2h 15min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Gain : -50% · 2h/fois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Actions : Chariot outils + Check-list + Préparation shift avant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13/20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— Générer des solutions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4 formats adaptés terrain maintenance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CLASSIQUE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6-10 pers · 20-40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Réunion équipe · Animateur · Tableau blanc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208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STAND-UP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581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5-8 pers · 10-15 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Debout · Rapide · 1 problème unique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697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BRAIN WRITING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953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pers · 30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Chacun écrit 3 idées · Passe feuille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080" y="2697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SOLO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953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 pers · 15 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Seul · Note TOUS les gaspillages vus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8678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" y="4224528"/>
            <a:ext cx="8275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Brainstorming SOLO : Technicien note 12 gaspillages pendant son shift → Best : Détection précoce 3 pannes évitées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14/20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2ÈME GÉNÉRATION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· Management Visuel — Andon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Outils avancés pour terrain maintenance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25603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5G — Les 5 Gemba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727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Gemba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7647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Aller sur terrain atelier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9568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Gembutsu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1488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Observer l'équipement réel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359152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3408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Genjitsu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5328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Données réelles · 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743200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7249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Genri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29169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Principes ingénierie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127248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108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Genba Walk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33009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 min/jour · 3 MUDA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411480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4718304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ANDON — Management Visuel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8304" y="1554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Rendre l'état visible immédiatement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187452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VERT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07568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Équipement OK · Production normale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242316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423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ORANGE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6243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Vigilance · Planifié maintenance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18304" y="2971800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971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ROUGE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317296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Panne · Action immédiate requise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9319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98678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8912" y="4224528"/>
            <a:ext cx="8275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Tableau ANDON salle contrôle : 20 équipements · Vert/Orange/Rouge visible de loin · Temps réaction panne -40%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15/20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VOTRE RÔLE DE RESPONSABLE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attend de vous — concrètement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Responsables maintenance · Chefs d'équipe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2560320"/>
          </a:xfrm>
          <a:prstGeom prst="rect">
            <a:avLst/>
          </a:prstGeom>
          <a:solidFill>
            <a:srgbClr val="EFF6FF"/>
          </a:solidFill>
          <a:ln w="19050">
            <a:solidFill>
              <a:srgbClr val="1E6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CE QUE VOUS FAITES — chaque semaine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00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5819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Gemba Walk 15 min/jour — noter 3 MUDA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947672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47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19293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Exiger QQOQCCP + 5 Pourquoi pour panne récurrente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295144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295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2768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Valider 1 KAIZEN/semaine/équipe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642616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6426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26243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Tenir tableau de bord ANDON à jour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990088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9900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29718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Appliquer PDCA sur problème récurrent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4114800" cy="25603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234440"/>
            <a:ext cx="4114800" cy="274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CE QUE VOUS EXIGEZ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600200"/>
            <a:ext cx="388620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627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✅ Identifier 3 MUDA/jour/technicien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388620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039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✅ Proposer 1 solution/connexion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423160"/>
            <a:ext cx="388620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✅ Suivre les standards établis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3886200" cy="34747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862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❌ Accepter 'c'est comme ça'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246120"/>
            <a:ext cx="3886200" cy="34747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273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❌ Refaire le travail des techniciens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9319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98678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8912" y="4224528"/>
            <a:ext cx="8275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Équipe autonome · -40% pannes récurrentes · Vous passez de pompier à leader · Données pour justifier budgets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16/20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PLAN D'ACTION MAINTENANCE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éliminer 15 gaspillages par semaine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Plan concret · Outils · Gains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</a:rPr>
              <a:t>LES 5 ÉTAPES — DÈS LUNDI PROCHAIN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16002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1600200" cy="347472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184708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5G · Gemba Walk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2194560"/>
            <a:ext cx="1490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15 min terrain · Noter 3 MUDA observés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16002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3264408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3 MUDA identifiés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84832" y="1444752"/>
            <a:ext cx="16002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1444752"/>
            <a:ext cx="1600200" cy="347472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16" name="Text 14"/>
          <p:cNvSpPr/>
          <p:nvPr/>
        </p:nvSpPr>
        <p:spPr>
          <a:xfrm>
            <a:off x="2084832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9696" y="184708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QQOQCCP + 5 Pourquoi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39696" y="2194560"/>
            <a:ext cx="1490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30 min sur MUDA le + critique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84832" y="3246120"/>
            <a:ext cx="16002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2121408" y="3264408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Cause racine trouvée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03904" y="1444752"/>
            <a:ext cx="16002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1444752"/>
            <a:ext cx="1600200" cy="347472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23" name="Text 21"/>
          <p:cNvSpPr/>
          <p:nvPr/>
        </p:nvSpPr>
        <p:spPr>
          <a:xfrm>
            <a:off x="3803904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58768" y="184708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Brainstorming Stand-up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8768" y="2194560"/>
            <a:ext cx="1490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10 min · Équipe propose solutions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03904" y="3246120"/>
            <a:ext cx="1600200" cy="4572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264408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</a:rPr>
              <a:t>Solution choisie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22976" y="1444752"/>
            <a:ext cx="16002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22976" y="1444752"/>
            <a:ext cx="1600200" cy="347472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0" name="Text 28"/>
          <p:cNvSpPr/>
          <p:nvPr/>
        </p:nvSpPr>
        <p:spPr>
          <a:xfrm>
            <a:off x="5522976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JEU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184708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PDCA — Do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2194560"/>
            <a:ext cx="1490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Tester solution · Mesurer avant/après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22976" y="3246120"/>
            <a:ext cx="16002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5559552" y="3264408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Résultat mesuré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42048" y="1444752"/>
            <a:ext cx="16002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42048" y="1444752"/>
            <a:ext cx="1600200" cy="347472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7" name="Text 35"/>
          <p:cNvSpPr/>
          <p:nvPr/>
        </p:nvSpPr>
        <p:spPr>
          <a:xfrm>
            <a:off x="7242048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96912" y="184708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Mgmt Visuel + Act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96912" y="2194560"/>
            <a:ext cx="1490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Standardiser si succès · Partager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42048" y="3246120"/>
            <a:ext cx="16002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1" name="Text 39"/>
          <p:cNvSpPr/>
          <p:nvPr/>
        </p:nvSpPr>
        <p:spPr>
          <a:xfrm>
            <a:off x="7278624" y="3264408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Standard diffusé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977640"/>
            <a:ext cx="8412480" cy="4114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014216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1 équipe × 3 MUDA/semaine × 50 sem = 750 MUDA/an → 3-5 semaines de travail gagnées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5" name="Shape 43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17/20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gagnez réellement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Résultats mesurés OCP + industrie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0700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-40%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Pannes récurrentes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31673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En 6 mois avec PDCA + 5P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07008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07008"/>
            <a:ext cx="54864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984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+2h/j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892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Disponibilité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31673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Par équipement · Sans investissement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578608"/>
            <a:ext cx="54864" cy="1188720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700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7A6A"/>
                </a:solidFill>
              </a:rPr>
              <a:t>-50%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32644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Temps d'intervention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68833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Avec SMED + Organisation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578608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578608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6700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0 Dh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846320" y="32644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Pour commencer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68833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Juste votre regard · 15 min/jour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078224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🏭 EXEMPLE OCP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" y="4315968"/>
            <a:ext cx="8275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1ère semaine : Identifier MUDA | 1er mois : Premiers résultats | 3 mois : Équipe autonome | 6 mois : -40% pannes récurrentes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18/20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ANNEXE — MÉMO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 outils terrain — À emporter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0116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93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PDCA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5270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Amélioration quotidienne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Cycle 1 semaine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20116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12893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QQOQCCP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87752" y="15270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Définir problème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87752" y="171907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30 min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20116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2893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5 Pourquoi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15270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Cause racine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36592" y="171907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 min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12280" y="1234440"/>
            <a:ext cx="20116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12893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SMED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85432" y="15270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Réduire temps changement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85432" y="171907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Projet 1 mois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20116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1579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Brainstorming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Générer solutions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8912" y="258775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10-40 min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14600" y="2103120"/>
            <a:ext cx="20116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21579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5G/Andon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87752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Management visuel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87752" y="258775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 min/jour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103120"/>
            <a:ext cx="20116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1579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8D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Incident grave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6592" y="258775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3j-2sem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12280" y="2103120"/>
            <a:ext cx="20116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21579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DMAIC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Projet complexe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85432" y="258775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1-3 mois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01752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0906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📋 CHECK-LIST DÉBUT SHIFT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□ Gemba Walk 15 min — Noter 3 MUDA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□ Vérifier ANDON — Planifier actions ROUGES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□ Briefing équipe — QQOQCCP sur problème du jour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□ Valider 1 amélioration KAIZEN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44" name="Shape 42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19/20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4B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2743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0" y="365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4B87"/>
                </a:solidFill>
              </a:rPr>
              <a:t>OCP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"Lean Maintenance : Un voyage, pas une destination."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Commencez petit · Commencez maintenant · Capitalisez toujours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0"/>
          </a:xfrm>
          <a:prstGeom prst="line">
            <a:avLst/>
          </a:prstGeom>
          <a:noFill/>
          <a:ln w="12700">
            <a:solidFill>
              <a:srgbClr val="0060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0386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LUNDI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Gemba Walk 15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03866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MARDI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Premier 5 Pourquoi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03866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MERCREDI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Premier Brainstorming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03866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JEUDI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Premier test PDCA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03866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VENDREDI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Standardisation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Votre équipe vous attend. Les outils sont prêts. La première amélioration commence lundi.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📧 Contact : Direction Maintenance · service.lean@ocp.com · www.ocp.com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640080"/>
          </a:xfrm>
          <a:prstGeom prst="rect">
            <a:avLst/>
          </a:prstGeom>
          <a:solidFill>
            <a:srgbClr val="004B87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" y="493776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87"/>
                </a:solidFill>
              </a:rPr>
              <a:t>OCP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5047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Maintenance Lean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50474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20/20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00A6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Lean Management - Maintenance OCP</dc:title>
  <dc:subject>PptxGenJS Presentation</dc:subject>
  <dc:creator>Formation KAIZEN - OCP</dc:creator>
  <cp:lastModifiedBy>Formation KAIZEN - OCP</cp:lastModifiedBy>
  <cp:revision>1</cp:revision>
  <dcterms:created xsi:type="dcterms:W3CDTF">2026-05-08T23:05:45Z</dcterms:created>
  <dcterms:modified xsi:type="dcterms:W3CDTF">2026-05-08T23:05:45Z</dcterms:modified>
</cp:coreProperties>
</file>